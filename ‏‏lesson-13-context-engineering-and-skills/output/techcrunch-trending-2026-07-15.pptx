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164592" cy="5148072"/>
          </a:xfrm>
          <a:prstGeom prst="rect">
            <a:avLst/>
          </a:prstGeom>
          <a:solidFill>
            <a:srgbClr val="00C853"/>
          </a:solidFill>
          <a:ln/>
        </p:spPr>
      </p:sp>
      <p:sp>
        <p:nvSpPr>
          <p:cNvPr id="3" name="Text 1"/>
          <p:cNvSpPr/>
          <p:nvPr/>
        </p:nvSpPr>
        <p:spPr>
          <a:xfrm>
            <a:off x="548640" y="384048"/>
            <a:ext cx="5486400" cy="274320"/>
          </a:xfrm>
          <a:prstGeom prst="rect">
            <a:avLst/>
          </a:prstGeom>
          <a:noFill/>
          <a:ln/>
        </p:spPr>
        <p:txBody>
          <a:bodyPr wrap="square" rtlCol="0" anchor="ctr"/>
          <a:lstStyle/>
          <a:p>
            <a:pPr indent="0" marL="0">
              <a:buNone/>
            </a:pPr>
            <a:r>
              <a:rPr lang="en-US" sz="1200" b="1" spc="300" kern="0" dirty="0">
                <a:solidFill>
                  <a:srgbClr val="00C853"/>
                </a:solidFill>
                <a:latin typeface="Calibri" pitchFamily="34" charset="0"/>
                <a:ea typeface="Calibri" pitchFamily="34" charset="-122"/>
                <a:cs typeface="Calibri" pitchFamily="34" charset="-120"/>
              </a:rPr>
              <a:t>TECHCRUNCH</a:t>
            </a:r>
            <a:endParaRPr lang="en-US" sz="1200" dirty="0"/>
          </a:p>
        </p:txBody>
      </p:sp>
      <p:sp>
        <p:nvSpPr>
          <p:cNvPr id="4" name="Text 2"/>
          <p:cNvSpPr/>
          <p:nvPr/>
        </p:nvSpPr>
        <p:spPr>
          <a:xfrm>
            <a:off x="548640" y="640080"/>
            <a:ext cx="8046720" cy="64008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Top 5 Trending Today</a:t>
            </a:r>
            <a:endParaRPr lang="en-US" sz="3400" dirty="0"/>
          </a:p>
        </p:txBody>
      </p:sp>
      <p:sp>
        <p:nvSpPr>
          <p:cNvPr id="5" name="Text 3"/>
          <p:cNvSpPr/>
          <p:nvPr/>
        </p:nvSpPr>
        <p:spPr>
          <a:xfrm>
            <a:off x="548640" y="1298448"/>
            <a:ext cx="8046720" cy="274320"/>
          </a:xfrm>
          <a:prstGeom prst="rect">
            <a:avLst/>
          </a:prstGeom>
          <a:noFill/>
          <a:ln/>
        </p:spPr>
        <p:txBody>
          <a:bodyPr wrap="square" rtlCol="0" anchor="ctr"/>
          <a:lstStyle/>
          <a:p>
            <a:pPr indent="0" marL="0">
              <a:buNone/>
            </a:pPr>
            <a:r>
              <a:rPr lang="en-US" sz="1200" dirty="0">
                <a:solidFill>
                  <a:srgbClr val="9AA4B2"/>
                </a:solidFill>
                <a:latin typeface="Calibri" pitchFamily="34" charset="0"/>
                <a:ea typeface="Calibri" pitchFamily="34" charset="-122"/>
                <a:cs typeface="Calibri" pitchFamily="34" charset="-120"/>
              </a:rPr>
              <a:t>July 15, 2026  ·  Source: techcrunch.com</a:t>
            </a:r>
            <a:endParaRPr lang="en-US" sz="1200" dirty="0"/>
          </a:p>
        </p:txBody>
      </p:sp>
      <p:sp>
        <p:nvSpPr>
          <p:cNvPr id="6" name="Shape 4"/>
          <p:cNvSpPr/>
          <p:nvPr/>
        </p:nvSpPr>
        <p:spPr>
          <a:xfrm>
            <a:off x="548640" y="1819656"/>
            <a:ext cx="384048" cy="384048"/>
          </a:xfrm>
          <a:prstGeom prst="ellipse">
            <a:avLst/>
          </a:prstGeom>
          <a:solidFill>
            <a:srgbClr val="00C853"/>
          </a:solidFill>
          <a:ln/>
        </p:spPr>
      </p:sp>
      <p:sp>
        <p:nvSpPr>
          <p:cNvPr id="7" name="Text 5"/>
          <p:cNvSpPr/>
          <p:nvPr/>
        </p:nvSpPr>
        <p:spPr>
          <a:xfrm>
            <a:off x="548640" y="1819656"/>
            <a:ext cx="384048" cy="384048"/>
          </a:xfrm>
          <a:prstGeom prst="rect">
            <a:avLst/>
          </a:prstGeom>
          <a:noFill/>
          <a:ln/>
        </p:spPr>
        <p:txBody>
          <a:bodyPr wrap="square" rtlCol="0" anchor="ctr"/>
          <a:lstStyle/>
          <a:p>
            <a:pPr algn="ctr" indent="0" marL="0">
              <a:buNone/>
            </a:pPr>
            <a:r>
              <a:rPr lang="en-US" sz="1800" b="1" dirty="0">
                <a:solidFill>
                  <a:srgbClr val="0A0E14"/>
                </a:solidFill>
                <a:latin typeface="Georgia" pitchFamily="34" charset="0"/>
                <a:ea typeface="Georgia" pitchFamily="34" charset="-122"/>
                <a:cs typeface="Georgia" pitchFamily="34" charset="-120"/>
              </a:rPr>
              <a:t>1</a:t>
            </a:r>
            <a:endParaRPr lang="en-US" sz="1800" dirty="0"/>
          </a:p>
        </p:txBody>
      </p:sp>
      <p:sp>
        <p:nvSpPr>
          <p:cNvPr id="8" name="Text 6"/>
          <p:cNvSpPr/>
          <p:nvPr/>
        </p:nvSpPr>
        <p:spPr>
          <a:xfrm>
            <a:off x="1097280" y="1764792"/>
            <a:ext cx="749808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Apple reveals how its Maps ads will differ from Google's</a:t>
            </a:r>
            <a:endParaRPr lang="en-US" sz="1450" dirty="0"/>
          </a:p>
        </p:txBody>
      </p:sp>
      <p:sp>
        <p:nvSpPr>
          <p:cNvPr id="9" name="Text 7"/>
          <p:cNvSpPr/>
          <p:nvPr/>
        </p:nvSpPr>
        <p:spPr>
          <a:xfrm>
            <a:off x="1097280" y="2057400"/>
            <a:ext cx="7498080" cy="274320"/>
          </a:xfrm>
          <a:prstGeom prst="rect">
            <a:avLst/>
          </a:prstGeom>
          <a:noFill/>
          <a:ln/>
        </p:spPr>
        <p:txBody>
          <a:bodyPr wrap="square" lIns="0" tIns="0" rIns="0" bIns="0" rtlCol="0" anchor="ctr"/>
          <a:lstStyle/>
          <a:p>
            <a:pPr indent="0" marL="0">
              <a:buNone/>
            </a:pPr>
            <a:r>
              <a:rPr lang="en-US" sz="1150" dirty="0">
                <a:solidFill>
                  <a:srgbClr val="9AA4B2"/>
                </a:solidFill>
                <a:latin typeface="Calibri" pitchFamily="34" charset="0"/>
                <a:ea typeface="Calibri" pitchFamily="34" charset="-122"/>
                <a:cs typeface="Calibri" pitchFamily="34" charset="-120"/>
              </a:rPr>
              <a:t>One labeled ad per search, strict category bans, on-device data.</a:t>
            </a:r>
            <a:endParaRPr lang="en-US" sz="1150" dirty="0"/>
          </a:p>
        </p:txBody>
      </p:sp>
      <p:sp>
        <p:nvSpPr>
          <p:cNvPr id="10" name="Shape 8"/>
          <p:cNvSpPr/>
          <p:nvPr/>
        </p:nvSpPr>
        <p:spPr>
          <a:xfrm>
            <a:off x="548640" y="2441448"/>
            <a:ext cx="384048" cy="384048"/>
          </a:xfrm>
          <a:prstGeom prst="ellipse">
            <a:avLst/>
          </a:prstGeom>
          <a:solidFill>
            <a:srgbClr val="00C853"/>
          </a:solidFill>
          <a:ln/>
        </p:spPr>
      </p:sp>
      <p:sp>
        <p:nvSpPr>
          <p:cNvPr id="11" name="Text 9"/>
          <p:cNvSpPr/>
          <p:nvPr/>
        </p:nvSpPr>
        <p:spPr>
          <a:xfrm>
            <a:off x="548640" y="2441448"/>
            <a:ext cx="384048" cy="384048"/>
          </a:xfrm>
          <a:prstGeom prst="rect">
            <a:avLst/>
          </a:prstGeom>
          <a:noFill/>
          <a:ln/>
        </p:spPr>
        <p:txBody>
          <a:bodyPr wrap="square" rtlCol="0" anchor="ctr"/>
          <a:lstStyle/>
          <a:p>
            <a:pPr algn="ctr" indent="0" marL="0">
              <a:buNone/>
            </a:pPr>
            <a:r>
              <a:rPr lang="en-US" sz="1800" b="1" dirty="0">
                <a:solidFill>
                  <a:srgbClr val="0A0E14"/>
                </a:solidFill>
                <a:latin typeface="Georgia" pitchFamily="34" charset="0"/>
                <a:ea typeface="Georgia" pitchFamily="34" charset="-122"/>
                <a:cs typeface="Georgia" pitchFamily="34" charset="-120"/>
              </a:rPr>
              <a:t>2</a:t>
            </a:r>
            <a:endParaRPr lang="en-US" sz="1800" dirty="0"/>
          </a:p>
        </p:txBody>
      </p:sp>
      <p:sp>
        <p:nvSpPr>
          <p:cNvPr id="12" name="Text 10"/>
          <p:cNvSpPr/>
          <p:nvPr/>
        </p:nvSpPr>
        <p:spPr>
          <a:xfrm>
            <a:off x="1097280" y="2386584"/>
            <a:ext cx="749808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SpaceX slips below its $135 IPO price ahead of Starship launch</a:t>
            </a:r>
            <a:endParaRPr lang="en-US" sz="1450" dirty="0"/>
          </a:p>
        </p:txBody>
      </p:sp>
      <p:sp>
        <p:nvSpPr>
          <p:cNvPr id="13" name="Text 11"/>
          <p:cNvSpPr/>
          <p:nvPr/>
        </p:nvSpPr>
        <p:spPr>
          <a:xfrm>
            <a:off x="1097280" y="2679192"/>
            <a:ext cx="7498080" cy="274320"/>
          </a:xfrm>
          <a:prstGeom prst="rect">
            <a:avLst/>
          </a:prstGeom>
          <a:noFill/>
          <a:ln/>
        </p:spPr>
        <p:txBody>
          <a:bodyPr wrap="square" lIns="0" tIns="0" rIns="0" bIns="0" rtlCol="0" anchor="ctr"/>
          <a:lstStyle/>
          <a:p>
            <a:pPr indent="0" marL="0">
              <a:buNone/>
            </a:pPr>
            <a:r>
              <a:rPr lang="en-US" sz="1150" dirty="0">
                <a:solidFill>
                  <a:srgbClr val="9AA4B2"/>
                </a:solidFill>
                <a:latin typeface="Calibri" pitchFamily="34" charset="0"/>
                <a:ea typeface="Calibri" pitchFamily="34" charset="-122"/>
                <a:cs typeface="Calibri" pitchFamily="34" charset="-120"/>
              </a:rPr>
              <a:t>Shares fall under the IPO price from a &gt;$200 peak; Starship looms.</a:t>
            </a:r>
            <a:endParaRPr lang="en-US" sz="1150" dirty="0"/>
          </a:p>
        </p:txBody>
      </p:sp>
      <p:sp>
        <p:nvSpPr>
          <p:cNvPr id="14" name="Shape 12"/>
          <p:cNvSpPr/>
          <p:nvPr/>
        </p:nvSpPr>
        <p:spPr>
          <a:xfrm>
            <a:off x="548640" y="3063240"/>
            <a:ext cx="384048" cy="384048"/>
          </a:xfrm>
          <a:prstGeom prst="ellipse">
            <a:avLst/>
          </a:prstGeom>
          <a:solidFill>
            <a:srgbClr val="00C853"/>
          </a:solidFill>
          <a:ln/>
        </p:spPr>
      </p:sp>
      <p:sp>
        <p:nvSpPr>
          <p:cNvPr id="15" name="Text 13"/>
          <p:cNvSpPr/>
          <p:nvPr/>
        </p:nvSpPr>
        <p:spPr>
          <a:xfrm>
            <a:off x="548640" y="3063240"/>
            <a:ext cx="384048" cy="384048"/>
          </a:xfrm>
          <a:prstGeom prst="rect">
            <a:avLst/>
          </a:prstGeom>
          <a:noFill/>
          <a:ln/>
        </p:spPr>
        <p:txBody>
          <a:bodyPr wrap="square" rtlCol="0" anchor="ctr"/>
          <a:lstStyle/>
          <a:p>
            <a:pPr algn="ctr" indent="0" marL="0">
              <a:buNone/>
            </a:pPr>
            <a:r>
              <a:rPr lang="en-US" sz="1800" b="1" dirty="0">
                <a:solidFill>
                  <a:srgbClr val="0A0E14"/>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097280" y="3008376"/>
            <a:ext cx="749808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Thinking Machines bets on custom AI with first open model, Inkling</a:t>
            </a:r>
            <a:endParaRPr lang="en-US" sz="1450" dirty="0"/>
          </a:p>
        </p:txBody>
      </p:sp>
      <p:sp>
        <p:nvSpPr>
          <p:cNvPr id="17" name="Text 15"/>
          <p:cNvSpPr/>
          <p:nvPr/>
        </p:nvSpPr>
        <p:spPr>
          <a:xfrm>
            <a:off x="1097280" y="3300984"/>
            <a:ext cx="7498080" cy="274320"/>
          </a:xfrm>
          <a:prstGeom prst="rect">
            <a:avLst/>
          </a:prstGeom>
          <a:noFill/>
          <a:ln/>
        </p:spPr>
        <p:txBody>
          <a:bodyPr wrap="square" lIns="0" tIns="0" rIns="0" bIns="0" rtlCol="0" anchor="ctr"/>
          <a:lstStyle/>
          <a:p>
            <a:pPr indent="0" marL="0">
              <a:buNone/>
            </a:pPr>
            <a:r>
              <a:rPr lang="en-US" sz="1150" dirty="0">
                <a:solidFill>
                  <a:srgbClr val="9AA4B2"/>
                </a:solidFill>
                <a:latin typeface="Calibri" pitchFamily="34" charset="0"/>
                <a:ea typeface="Calibri" pitchFamily="34" charset="-122"/>
                <a:cs typeface="Calibri" pitchFamily="34" charset="-120"/>
              </a:rPr>
              <a:t>975B-param open MoE, 41B active, aimed at enterprise customization.</a:t>
            </a:r>
            <a:endParaRPr lang="en-US" sz="1150" dirty="0"/>
          </a:p>
        </p:txBody>
      </p:sp>
      <p:sp>
        <p:nvSpPr>
          <p:cNvPr id="18" name="Shape 16"/>
          <p:cNvSpPr/>
          <p:nvPr/>
        </p:nvSpPr>
        <p:spPr>
          <a:xfrm>
            <a:off x="548640" y="3685032"/>
            <a:ext cx="384048" cy="384048"/>
          </a:xfrm>
          <a:prstGeom prst="ellipse">
            <a:avLst/>
          </a:prstGeom>
          <a:solidFill>
            <a:srgbClr val="00C853"/>
          </a:solidFill>
          <a:ln/>
        </p:spPr>
      </p:sp>
      <p:sp>
        <p:nvSpPr>
          <p:cNvPr id="19" name="Text 17"/>
          <p:cNvSpPr/>
          <p:nvPr/>
        </p:nvSpPr>
        <p:spPr>
          <a:xfrm>
            <a:off x="548640" y="3685032"/>
            <a:ext cx="384048" cy="384048"/>
          </a:xfrm>
          <a:prstGeom prst="rect">
            <a:avLst/>
          </a:prstGeom>
          <a:noFill/>
          <a:ln/>
        </p:spPr>
        <p:txBody>
          <a:bodyPr wrap="square" rtlCol="0" anchor="ctr"/>
          <a:lstStyle/>
          <a:p>
            <a:pPr algn="ctr" indent="0" marL="0">
              <a:buNone/>
            </a:pPr>
            <a:r>
              <a:rPr lang="en-US" sz="1800" b="1" dirty="0">
                <a:solidFill>
                  <a:srgbClr val="0A0E14"/>
                </a:solidFill>
                <a:latin typeface="Georgia" pitchFamily="34" charset="0"/>
                <a:ea typeface="Georgia" pitchFamily="34" charset="-122"/>
                <a:cs typeface="Georgia" pitchFamily="34" charset="-120"/>
              </a:rPr>
              <a:t>4</a:t>
            </a:r>
            <a:endParaRPr lang="en-US" sz="1800" dirty="0"/>
          </a:p>
        </p:txBody>
      </p:sp>
      <p:sp>
        <p:nvSpPr>
          <p:cNvPr id="20" name="Text 18"/>
          <p:cNvSpPr/>
          <p:nvPr/>
        </p:nvSpPr>
        <p:spPr>
          <a:xfrm>
            <a:off x="1097280" y="3630168"/>
            <a:ext cx="749808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OnePlus reportedly plans to wind down US and Europe operations</a:t>
            </a:r>
            <a:endParaRPr lang="en-US" sz="1450" dirty="0"/>
          </a:p>
        </p:txBody>
      </p:sp>
      <p:sp>
        <p:nvSpPr>
          <p:cNvPr id="21" name="Text 19"/>
          <p:cNvSpPr/>
          <p:nvPr/>
        </p:nvSpPr>
        <p:spPr>
          <a:xfrm>
            <a:off x="1097280" y="3922776"/>
            <a:ext cx="7498080" cy="274320"/>
          </a:xfrm>
          <a:prstGeom prst="rect">
            <a:avLst/>
          </a:prstGeom>
          <a:noFill/>
          <a:ln/>
        </p:spPr>
        <p:txBody>
          <a:bodyPr wrap="square" lIns="0" tIns="0" rIns="0" bIns="0" rtlCol="0" anchor="ctr"/>
          <a:lstStyle/>
          <a:p>
            <a:pPr indent="0" marL="0">
              <a:buNone/>
            </a:pPr>
            <a:r>
              <a:rPr lang="en-US" sz="1150" dirty="0">
                <a:solidFill>
                  <a:srgbClr val="9AA4B2"/>
                </a:solidFill>
                <a:latin typeface="Calibri" pitchFamily="34" charset="0"/>
                <a:ea typeface="Calibri" pitchFamily="34" charset="-122"/>
                <a:cs typeface="Calibri" pitchFamily="34" charset="-120"/>
              </a:rPr>
              <a:t>Western retreat amid an Oppo restructuring and a memory-chip crunch.</a:t>
            </a:r>
            <a:endParaRPr lang="en-US" sz="1150" dirty="0"/>
          </a:p>
        </p:txBody>
      </p:sp>
      <p:sp>
        <p:nvSpPr>
          <p:cNvPr id="22" name="Shape 20"/>
          <p:cNvSpPr/>
          <p:nvPr/>
        </p:nvSpPr>
        <p:spPr>
          <a:xfrm>
            <a:off x="548640" y="4306824"/>
            <a:ext cx="384048" cy="384048"/>
          </a:xfrm>
          <a:prstGeom prst="ellipse">
            <a:avLst/>
          </a:prstGeom>
          <a:solidFill>
            <a:srgbClr val="00C853"/>
          </a:solidFill>
          <a:ln/>
        </p:spPr>
      </p:sp>
      <p:sp>
        <p:nvSpPr>
          <p:cNvPr id="23" name="Text 21"/>
          <p:cNvSpPr/>
          <p:nvPr/>
        </p:nvSpPr>
        <p:spPr>
          <a:xfrm>
            <a:off x="548640" y="4306824"/>
            <a:ext cx="384048" cy="384048"/>
          </a:xfrm>
          <a:prstGeom prst="rect">
            <a:avLst/>
          </a:prstGeom>
          <a:noFill/>
          <a:ln/>
        </p:spPr>
        <p:txBody>
          <a:bodyPr wrap="square" rtlCol="0" anchor="ctr"/>
          <a:lstStyle/>
          <a:p>
            <a:pPr algn="ctr" indent="0" marL="0">
              <a:buNone/>
            </a:pPr>
            <a:r>
              <a:rPr lang="en-US" sz="1800" b="1" dirty="0">
                <a:solidFill>
                  <a:srgbClr val="0A0E14"/>
                </a:solidFill>
                <a:latin typeface="Georgia" pitchFamily="34" charset="0"/>
                <a:ea typeface="Georgia" pitchFamily="34" charset="-122"/>
                <a:cs typeface="Georgia" pitchFamily="34" charset="-120"/>
              </a:rPr>
              <a:t>5</a:t>
            </a:r>
            <a:endParaRPr lang="en-US" sz="1800" dirty="0"/>
          </a:p>
        </p:txBody>
      </p:sp>
      <p:sp>
        <p:nvSpPr>
          <p:cNvPr id="24" name="Text 22"/>
          <p:cNvSpPr/>
          <p:nvPr/>
        </p:nvSpPr>
        <p:spPr>
          <a:xfrm>
            <a:off x="1097280" y="4251960"/>
            <a:ext cx="749808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Google's biggest clean-power project sits near xAI's gas plant</a:t>
            </a:r>
            <a:endParaRPr lang="en-US" sz="1450" dirty="0"/>
          </a:p>
        </p:txBody>
      </p:sp>
      <p:sp>
        <p:nvSpPr>
          <p:cNvPr id="25" name="Text 23"/>
          <p:cNvSpPr/>
          <p:nvPr/>
        </p:nvSpPr>
        <p:spPr>
          <a:xfrm>
            <a:off x="1097280" y="4544568"/>
            <a:ext cx="7498080" cy="274320"/>
          </a:xfrm>
          <a:prstGeom prst="rect">
            <a:avLst/>
          </a:prstGeom>
          <a:noFill/>
          <a:ln/>
        </p:spPr>
        <p:txBody>
          <a:bodyPr wrap="square" lIns="0" tIns="0" rIns="0" bIns="0" rtlCol="0" anchor="ctr"/>
          <a:lstStyle/>
          <a:p>
            <a:pPr indent="0" marL="0">
              <a:buNone/>
            </a:pPr>
            <a:r>
              <a:rPr lang="en-US" sz="1150" dirty="0">
                <a:solidFill>
                  <a:srgbClr val="9AA4B2"/>
                </a:solidFill>
                <a:latin typeface="Calibri" pitchFamily="34" charset="0"/>
                <a:ea typeface="Calibri" pitchFamily="34" charset="-122"/>
                <a:cs typeface="Calibri" pitchFamily="34" charset="-120"/>
              </a:rPr>
              <a:t>1.8 GW solar + 2.9 GWh storage, framed against xAI's gas turbines.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4"/>
        </a:solidFill>
      </p:bgPr>
    </p:bg>
    <p:spTree>
      <p:nvGrpSpPr>
        <p:cNvPr id="1" name=""/>
        <p:cNvGrpSpPr/>
        <p:nvPr/>
      </p:nvGrpSpPr>
      <p:grpSpPr>
        <a:xfrm>
          <a:off x="0" y="0"/>
          <a:ext cx="0" cy="0"/>
          <a:chOff x="0" y="0"/>
          <a:chExt cx="0" cy="0"/>
        </a:xfrm>
      </p:grpSpPr>
      <p:sp>
        <p:nvSpPr>
          <p:cNvPr id="2" name="Shape 0"/>
          <p:cNvSpPr/>
          <p:nvPr/>
        </p:nvSpPr>
        <p:spPr>
          <a:xfrm>
            <a:off x="0" y="0"/>
            <a:ext cx="2377440" cy="5148072"/>
          </a:xfrm>
          <a:prstGeom prst="rect">
            <a:avLst/>
          </a:prstGeom>
          <a:solidFill>
            <a:srgbClr val="108A00"/>
          </a:solidFill>
          <a:ln/>
        </p:spPr>
      </p:sp>
      <p:sp>
        <p:nvSpPr>
          <p:cNvPr id="3" name="Text 1"/>
          <p:cNvSpPr/>
          <p:nvPr/>
        </p:nvSpPr>
        <p:spPr>
          <a:xfrm>
            <a:off x="0" y="457200"/>
            <a:ext cx="2377440" cy="1463040"/>
          </a:xfrm>
          <a:prstGeom prst="rect">
            <a:avLst/>
          </a:prstGeom>
          <a:noFill/>
          <a:ln/>
        </p:spPr>
        <p:txBody>
          <a:bodyPr wrap="square" rtlCol="0" anchor="ctr"/>
          <a:lstStyle/>
          <a:p>
            <a:pPr algn="ctr" indent="0" marL="0">
              <a:buNone/>
            </a:pPr>
            <a:r>
              <a:rPr lang="en-US" sz="9600" b="1" dirty="0">
                <a:solidFill>
                  <a:srgbClr val="FFFFFF"/>
                </a:solidFill>
                <a:latin typeface="Georgia" pitchFamily="34" charset="0"/>
                <a:ea typeface="Georgia" pitchFamily="34" charset="-122"/>
                <a:cs typeface="Georgia" pitchFamily="34" charset="-120"/>
              </a:rPr>
              <a:t>01</a:t>
            </a:r>
            <a:endParaRPr lang="en-US" sz="9600" dirty="0"/>
          </a:p>
        </p:txBody>
      </p:sp>
      <p:sp>
        <p:nvSpPr>
          <p:cNvPr id="4" name="Text 2"/>
          <p:cNvSpPr/>
          <p:nvPr/>
        </p:nvSpPr>
        <p:spPr>
          <a:xfrm>
            <a:off x="0" y="1874520"/>
            <a:ext cx="2377440" cy="274320"/>
          </a:xfrm>
          <a:prstGeom prst="rect">
            <a:avLst/>
          </a:prstGeom>
          <a:noFill/>
          <a:ln/>
        </p:spPr>
        <p:txBody>
          <a:bodyPr wrap="square"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PLATFORMS</a:t>
            </a:r>
            <a:endParaRPr lang="en-US" sz="1200" dirty="0"/>
          </a:p>
        </p:txBody>
      </p:sp>
      <p:sp>
        <p:nvSpPr>
          <p:cNvPr id="5" name="Shape 3"/>
          <p:cNvSpPr/>
          <p:nvPr/>
        </p:nvSpPr>
        <p:spPr>
          <a:xfrm>
            <a:off x="868680" y="2240280"/>
            <a:ext cx="640080" cy="45720"/>
          </a:xfrm>
          <a:prstGeom prst="rect">
            <a:avLst/>
          </a:prstGeom>
          <a:solidFill>
            <a:srgbClr val="00C853"/>
          </a:solidFill>
          <a:ln/>
        </p:spPr>
      </p:sp>
      <p:sp>
        <p:nvSpPr>
          <p:cNvPr id="6" name="Text 4"/>
          <p:cNvSpPr/>
          <p:nvPr/>
        </p:nvSpPr>
        <p:spPr>
          <a:xfrm>
            <a:off x="0" y="4297680"/>
            <a:ext cx="2377440" cy="640080"/>
          </a:xfrm>
          <a:prstGeom prst="rect">
            <a:avLst/>
          </a:prstGeom>
          <a:noFill/>
          <a:ln/>
        </p:spPr>
        <p:txBody>
          <a:bodyPr wrap="square" rtlCol="0" anchor="ctr"/>
          <a:lstStyle/>
          <a:p>
            <a:pPr algn="ctr" indent="0" marL="0">
              <a:buNone/>
            </a:pPr>
            <a:r>
              <a:rPr lang="en-US" sz="1000" dirty="0">
                <a:solidFill>
                  <a:srgbClr val="EAF0EA"/>
                </a:solidFill>
                <a:latin typeface="Calibri" pitchFamily="34" charset="0"/>
                <a:ea typeface="Calibri" pitchFamily="34" charset="-122"/>
                <a:cs typeface="Calibri" pitchFamily="34" charset="-120"/>
              </a:rPr>
              <a:t>TechCrunch</a:t>
            </a:r>
            <a:endParaRPr lang="en-US" sz="1000" dirty="0"/>
          </a:p>
          <a:p>
            <a:pPr algn="ctr" indent="0" marL="0">
              <a:buNone/>
            </a:pPr>
            <a:r>
              <a:rPr lang="en-US" sz="1000" dirty="0">
                <a:solidFill>
                  <a:srgbClr val="EAF0EA"/>
                </a:solidFill>
                <a:latin typeface="Calibri" pitchFamily="34" charset="0"/>
                <a:ea typeface="Calibri" pitchFamily="34" charset="-122"/>
                <a:cs typeface="Calibri" pitchFamily="34" charset="-120"/>
              </a:rPr>
              <a:t>Top 5 Trending</a:t>
            </a:r>
            <a:endParaRPr lang="en-US" sz="1000" dirty="0"/>
          </a:p>
        </p:txBody>
      </p:sp>
      <p:sp>
        <p:nvSpPr>
          <p:cNvPr id="7" name="Text 5"/>
          <p:cNvSpPr/>
          <p:nvPr/>
        </p:nvSpPr>
        <p:spPr>
          <a:xfrm>
            <a:off x="2743200" y="411480"/>
            <a:ext cx="5852160" cy="914400"/>
          </a:xfrm>
          <a:prstGeom prst="rect">
            <a:avLst/>
          </a:prstGeom>
          <a:noFill/>
          <a:ln/>
        </p:spPr>
        <p:txBody>
          <a:bodyPr wrap="square" lIns="0" tIns="0" rIns="0" bIns="0" rtlCol="0" anchor="ctr"/>
          <a:lstStyle/>
          <a:p>
            <a:pPr indent="0" marL="0">
              <a:buNone/>
            </a:pPr>
            <a:r>
              <a:rPr lang="en-US" sz="2300" b="1" dirty="0">
                <a:solidFill>
                  <a:srgbClr val="14181F"/>
                </a:solidFill>
                <a:latin typeface="Georgia" pitchFamily="34" charset="0"/>
                <a:ea typeface="Georgia" pitchFamily="34" charset="-122"/>
                <a:cs typeface="Georgia" pitchFamily="34" charset="-120"/>
              </a:rPr>
              <a:t>Apple reveals how its Maps ads will differ from Google's</a:t>
            </a:r>
            <a:endParaRPr lang="en-US" sz="2300" dirty="0"/>
          </a:p>
        </p:txBody>
      </p:sp>
      <p:sp>
        <p:nvSpPr>
          <p:cNvPr id="8" name="Text 6"/>
          <p:cNvSpPr/>
          <p:nvPr/>
        </p:nvSpPr>
        <p:spPr>
          <a:xfrm>
            <a:off x="2743200" y="1371600"/>
            <a:ext cx="585216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Sarah Perez · TechCrunch · Jul 15, 2026</a:t>
            </a:r>
            <a:endParaRPr lang="en-US" sz="1050" dirty="0"/>
          </a:p>
        </p:txBody>
      </p:sp>
      <p:sp>
        <p:nvSpPr>
          <p:cNvPr id="9" name="Text 7"/>
          <p:cNvSpPr/>
          <p:nvPr/>
        </p:nvSpPr>
        <p:spPr>
          <a:xfrm>
            <a:off x="2743200" y="1719072"/>
            <a:ext cx="5852160" cy="1371600"/>
          </a:xfrm>
          <a:prstGeom prst="rect">
            <a:avLst/>
          </a:prstGeom>
          <a:noFill/>
          <a:ln/>
        </p:spPr>
        <p:txBody>
          <a:bodyPr wrap="square" lIns="0" tIns="0" rIns="0" bIns="0" rtlCol="0" anchor="ctr"/>
          <a:lstStyle/>
          <a:p>
            <a:pPr algn="l" indent="0" marL="0">
              <a:lnSpc>
                <a:spcPct val="105000"/>
              </a:lnSpc>
              <a:buNone/>
            </a:pPr>
            <a:r>
              <a:rPr lang="en-US" sz="1300" dirty="0">
                <a:solidFill>
                  <a:srgbClr val="14181F"/>
                </a:solidFill>
                <a:latin typeface="Calibri" pitchFamily="34" charset="0"/>
                <a:ea typeface="Calibri" pitchFamily="34" charset="-122"/>
                <a:cs typeface="Calibri" pitchFamily="34" charset="-120"/>
              </a:rPr>
              <a:t>Apple published the ad policies for its upcoming Maps ads, taking a more restrictive line than Google. It will show a single, clearly-labeled ad per search, bar categories like home services, crypto ATMs and bail bonds, and keep ad-interaction data on-device. Maps ads are set to launch in the U.S. and Canada this summer.</a:t>
            </a:r>
            <a:endParaRPr lang="en-US" sz="1300" dirty="0"/>
          </a:p>
        </p:txBody>
      </p:sp>
      <p:sp>
        <p:nvSpPr>
          <p:cNvPr id="10" name="Text 8"/>
          <p:cNvSpPr/>
          <p:nvPr/>
        </p:nvSpPr>
        <p:spPr>
          <a:xfrm>
            <a:off x="2743200" y="3200400"/>
            <a:ext cx="5852160" cy="274320"/>
          </a:xfrm>
          <a:prstGeom prst="rect">
            <a:avLst/>
          </a:prstGeom>
          <a:noFill/>
          <a:ln/>
        </p:spPr>
        <p:txBody>
          <a:bodyPr wrap="square" lIns="0" tIns="0" rIns="0" bIns="0" rtlCol="0" anchor="ctr"/>
          <a:lstStyle/>
          <a:p>
            <a:pPr indent="0" marL="0">
              <a:buNone/>
            </a:pPr>
            <a:r>
              <a:rPr lang="en-US" sz="1200" b="1" spc="200" kern="0" dirty="0">
                <a:solidFill>
                  <a:srgbClr val="108A00"/>
                </a:solidFill>
                <a:latin typeface="Calibri" pitchFamily="34" charset="0"/>
                <a:ea typeface="Calibri" pitchFamily="34" charset="-122"/>
                <a:cs typeface="Calibri" pitchFamily="34" charset="-120"/>
              </a:rPr>
              <a:t>KEY TAKEAWAYS</a:t>
            </a:r>
            <a:endParaRPr lang="en-US" sz="1200" dirty="0"/>
          </a:p>
        </p:txBody>
      </p:sp>
      <p:sp>
        <p:nvSpPr>
          <p:cNvPr id="11" name="Text 9"/>
          <p:cNvSpPr/>
          <p:nvPr/>
        </p:nvSpPr>
        <p:spPr>
          <a:xfrm>
            <a:off x="2743200" y="3493008"/>
            <a:ext cx="5852160" cy="1371600"/>
          </a:xfrm>
          <a:prstGeom prst="rect">
            <a:avLst/>
          </a:prstGeom>
          <a:noFill/>
          <a:ln/>
        </p:spPr>
        <p:txBody>
          <a:bodyPr wrap="square" lIns="0" tIns="0" rIns="0" bIns="0" rtlCol="0" anchor="ctr"/>
          <a:lstStyle/>
          <a:p>
            <a:pPr algn="l" marL="177800" indent="-177800">
              <a:lnSpc>
                <a:spcPct val="102000"/>
              </a:lnSpc>
              <a:spcAft>
                <a:spcPts val="600"/>
              </a:spcAft>
              <a:buSzPct val="100000"/>
              <a:buChar char="•"/>
            </a:pPr>
            <a:r>
              <a:rPr lang="en-US" sz="1250" dirty="0">
                <a:solidFill>
                  <a:srgbClr val="14181F"/>
                </a:solidFill>
                <a:latin typeface="Calibri" pitchFamily="34" charset="0"/>
                <a:ea typeface="Calibri" pitchFamily="34" charset="-122"/>
                <a:cs typeface="Calibri" pitchFamily="34" charset="-120"/>
              </a:rPr>
              <a:t>One ad per result with a blue-halo "ad" label — a curated, low-clutter approach.</a:t>
            </a:r>
            <a:pPr algn="l" marL="177800" indent="-177800">
              <a:lnSpc>
                <a:spcPct val="102000"/>
              </a:lnSpc>
              <a:spcAft>
                <a:spcPts val="600"/>
              </a:spcAft>
              <a:buSzPct val="100000"/>
              <a:buChar char="•"/>
            </a:pPr>
            <a:r>
              <a:rPr lang="en-US" sz="1250" dirty="0">
                <a:solidFill>
                  <a:srgbClr val="14181F"/>
                </a:solidFill>
                <a:latin typeface="Calibri" pitchFamily="34" charset="0"/>
                <a:ea typeface="Calibri" pitchFamily="34" charset="-122"/>
                <a:cs typeface="Calibri" pitchFamily="34" charset="-120"/>
              </a:rPr>
              <a:t>Bans home services, crypto ATMs and bail bonds, unlike Google's Local Services Ads.</a:t>
            </a:r>
            <a:pPr algn="l" marL="177800" indent="-177800">
              <a:lnSpc>
                <a:spcPct val="102000"/>
              </a:lnSpc>
              <a:spcAft>
                <a:spcPts val="600"/>
              </a:spcAft>
              <a:buSzPct val="100000"/>
              <a:buChar char="•"/>
            </a:pPr>
            <a:r>
              <a:rPr lang="en-US" sz="1250" dirty="0">
                <a:solidFill>
                  <a:srgbClr val="14181F"/>
                </a:solidFill>
                <a:latin typeface="Calibri" pitchFamily="34" charset="0"/>
                <a:ea typeface="Calibri" pitchFamily="34" charset="-122"/>
                <a:cs typeface="Calibri" pitchFamily="34" charset="-120"/>
              </a:rPr>
              <a:t>Ad-interaction data stays on-device — a privacy-first contrast to Google.</a:t>
            </a:r>
            <a:endParaRPr lang="en-US" sz="1250" dirty="0"/>
          </a:p>
        </p:txBody>
      </p:sp>
      <p:sp>
        <p:nvSpPr>
          <p:cNvPr id="12" name="Text 10"/>
          <p:cNvSpPr/>
          <p:nvPr/>
        </p:nvSpPr>
        <p:spPr>
          <a:xfrm>
            <a:off x="2743200" y="4828032"/>
            <a:ext cx="5852160" cy="228600"/>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techcrunch.com/2026/07/15/apple-quietly-reveals-how-its-maps-ads-will-differ-from-googles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4"/>
        </a:solidFill>
      </p:bgPr>
    </p:bg>
    <p:spTree>
      <p:nvGrpSpPr>
        <p:cNvPr id="1" name=""/>
        <p:cNvGrpSpPr/>
        <p:nvPr/>
      </p:nvGrpSpPr>
      <p:grpSpPr>
        <a:xfrm>
          <a:off x="0" y="0"/>
          <a:ext cx="0" cy="0"/>
          <a:chOff x="0" y="0"/>
          <a:chExt cx="0" cy="0"/>
        </a:xfrm>
      </p:grpSpPr>
      <p:sp>
        <p:nvSpPr>
          <p:cNvPr id="2" name="Shape 0"/>
          <p:cNvSpPr/>
          <p:nvPr/>
        </p:nvSpPr>
        <p:spPr>
          <a:xfrm>
            <a:off x="6766560" y="0"/>
            <a:ext cx="2377440" cy="5148072"/>
          </a:xfrm>
          <a:prstGeom prst="rect">
            <a:avLst/>
          </a:prstGeom>
          <a:solidFill>
            <a:srgbClr val="1C7293"/>
          </a:solidFill>
          <a:ln/>
        </p:spPr>
      </p:sp>
      <p:sp>
        <p:nvSpPr>
          <p:cNvPr id="3" name="Text 1"/>
          <p:cNvSpPr/>
          <p:nvPr/>
        </p:nvSpPr>
        <p:spPr>
          <a:xfrm>
            <a:off x="6766560" y="457200"/>
            <a:ext cx="2377440" cy="1463040"/>
          </a:xfrm>
          <a:prstGeom prst="rect">
            <a:avLst/>
          </a:prstGeom>
          <a:noFill/>
          <a:ln/>
        </p:spPr>
        <p:txBody>
          <a:bodyPr wrap="square" rtlCol="0" anchor="ctr"/>
          <a:lstStyle/>
          <a:p>
            <a:pPr algn="ctr" indent="0" marL="0">
              <a:buNone/>
            </a:pPr>
            <a:r>
              <a:rPr lang="en-US" sz="9600" b="1" dirty="0">
                <a:solidFill>
                  <a:srgbClr val="FFFFFF"/>
                </a:solidFill>
                <a:latin typeface="Georgia" pitchFamily="34" charset="0"/>
                <a:ea typeface="Georgia" pitchFamily="34" charset="-122"/>
                <a:cs typeface="Georgia" pitchFamily="34" charset="-120"/>
              </a:rPr>
              <a:t>02</a:t>
            </a:r>
            <a:endParaRPr lang="en-US" sz="9600" dirty="0"/>
          </a:p>
        </p:txBody>
      </p:sp>
      <p:sp>
        <p:nvSpPr>
          <p:cNvPr id="4" name="Text 2"/>
          <p:cNvSpPr/>
          <p:nvPr/>
        </p:nvSpPr>
        <p:spPr>
          <a:xfrm>
            <a:off x="6766560" y="1874520"/>
            <a:ext cx="2377440" cy="274320"/>
          </a:xfrm>
          <a:prstGeom prst="rect">
            <a:avLst/>
          </a:prstGeom>
          <a:noFill/>
          <a:ln/>
        </p:spPr>
        <p:txBody>
          <a:bodyPr wrap="square"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MARKETS</a:t>
            </a:r>
            <a:endParaRPr lang="en-US" sz="1200" dirty="0"/>
          </a:p>
        </p:txBody>
      </p:sp>
      <p:sp>
        <p:nvSpPr>
          <p:cNvPr id="5" name="Shape 3"/>
          <p:cNvSpPr/>
          <p:nvPr/>
        </p:nvSpPr>
        <p:spPr>
          <a:xfrm>
            <a:off x="7635240" y="2240280"/>
            <a:ext cx="640080" cy="45720"/>
          </a:xfrm>
          <a:prstGeom prst="rect">
            <a:avLst/>
          </a:prstGeom>
          <a:solidFill>
            <a:srgbClr val="00C853"/>
          </a:solidFill>
          <a:ln/>
        </p:spPr>
      </p:sp>
      <p:sp>
        <p:nvSpPr>
          <p:cNvPr id="6" name="Text 4"/>
          <p:cNvSpPr/>
          <p:nvPr/>
        </p:nvSpPr>
        <p:spPr>
          <a:xfrm>
            <a:off x="6766560" y="4297680"/>
            <a:ext cx="2377440" cy="640080"/>
          </a:xfrm>
          <a:prstGeom prst="rect">
            <a:avLst/>
          </a:prstGeom>
          <a:noFill/>
          <a:ln/>
        </p:spPr>
        <p:txBody>
          <a:bodyPr wrap="square" rtlCol="0" anchor="ctr"/>
          <a:lstStyle/>
          <a:p>
            <a:pPr algn="ctr" indent="0" marL="0">
              <a:buNone/>
            </a:pPr>
            <a:r>
              <a:rPr lang="en-US" sz="1000" dirty="0">
                <a:solidFill>
                  <a:srgbClr val="EAF0EA"/>
                </a:solidFill>
                <a:latin typeface="Calibri" pitchFamily="34" charset="0"/>
                <a:ea typeface="Calibri" pitchFamily="34" charset="-122"/>
                <a:cs typeface="Calibri" pitchFamily="34" charset="-120"/>
              </a:rPr>
              <a:t>TechCrunch</a:t>
            </a:r>
            <a:endParaRPr lang="en-US" sz="1000" dirty="0"/>
          </a:p>
          <a:p>
            <a:pPr algn="ctr" indent="0" marL="0">
              <a:buNone/>
            </a:pPr>
            <a:r>
              <a:rPr lang="en-US" sz="1000" dirty="0">
                <a:solidFill>
                  <a:srgbClr val="EAF0EA"/>
                </a:solidFill>
                <a:latin typeface="Calibri" pitchFamily="34" charset="0"/>
                <a:ea typeface="Calibri" pitchFamily="34" charset="-122"/>
                <a:cs typeface="Calibri" pitchFamily="34" charset="-120"/>
              </a:rPr>
              <a:t>Top 5 Trending</a:t>
            </a:r>
            <a:endParaRPr lang="en-US" sz="1000" dirty="0"/>
          </a:p>
        </p:txBody>
      </p:sp>
      <p:sp>
        <p:nvSpPr>
          <p:cNvPr id="7" name="Text 5"/>
          <p:cNvSpPr/>
          <p:nvPr/>
        </p:nvSpPr>
        <p:spPr>
          <a:xfrm>
            <a:off x="548640" y="411480"/>
            <a:ext cx="5852160" cy="914400"/>
          </a:xfrm>
          <a:prstGeom prst="rect">
            <a:avLst/>
          </a:prstGeom>
          <a:noFill/>
          <a:ln/>
        </p:spPr>
        <p:txBody>
          <a:bodyPr wrap="square" lIns="0" tIns="0" rIns="0" bIns="0" rtlCol="0" anchor="ctr"/>
          <a:lstStyle/>
          <a:p>
            <a:pPr indent="0" marL="0">
              <a:buNone/>
            </a:pPr>
            <a:r>
              <a:rPr lang="en-US" sz="2300" b="1" dirty="0">
                <a:solidFill>
                  <a:srgbClr val="14181F"/>
                </a:solidFill>
                <a:latin typeface="Georgia" pitchFamily="34" charset="0"/>
                <a:ea typeface="Georgia" pitchFamily="34" charset="-122"/>
                <a:cs typeface="Georgia" pitchFamily="34" charset="-120"/>
              </a:rPr>
              <a:t>SpaceX slips below its $135 IPO price ahead of Starship launch</a:t>
            </a:r>
            <a:endParaRPr lang="en-US" sz="2300" dirty="0"/>
          </a:p>
        </p:txBody>
      </p:sp>
      <p:sp>
        <p:nvSpPr>
          <p:cNvPr id="8" name="Text 6"/>
          <p:cNvSpPr/>
          <p:nvPr/>
        </p:nvSpPr>
        <p:spPr>
          <a:xfrm>
            <a:off x="548640" y="1371600"/>
            <a:ext cx="585216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Sean O'Kane · TechCrunch · Jul 15, 2026</a:t>
            </a:r>
            <a:endParaRPr lang="en-US" sz="1050" dirty="0"/>
          </a:p>
        </p:txBody>
      </p:sp>
      <p:sp>
        <p:nvSpPr>
          <p:cNvPr id="9" name="Text 7"/>
          <p:cNvSpPr/>
          <p:nvPr/>
        </p:nvSpPr>
        <p:spPr>
          <a:xfrm>
            <a:off x="548640" y="1719072"/>
            <a:ext cx="5852160" cy="1371600"/>
          </a:xfrm>
          <a:prstGeom prst="rect">
            <a:avLst/>
          </a:prstGeom>
          <a:noFill/>
          <a:ln/>
        </p:spPr>
        <p:txBody>
          <a:bodyPr wrap="square" lIns="0" tIns="0" rIns="0" bIns="0" rtlCol="0" anchor="ctr"/>
          <a:lstStyle/>
          <a:p>
            <a:pPr algn="l" indent="0" marL="0">
              <a:lnSpc>
                <a:spcPct val="105000"/>
              </a:lnSpc>
              <a:buNone/>
            </a:pPr>
            <a:r>
              <a:rPr lang="en-US" sz="1300" dirty="0">
                <a:solidFill>
                  <a:srgbClr val="14181F"/>
                </a:solidFill>
                <a:latin typeface="Calibri" pitchFamily="34" charset="0"/>
                <a:ea typeface="Calibri" pitchFamily="34" charset="-122"/>
                <a:cs typeface="Calibri" pitchFamily="34" charset="-120"/>
              </a:rPr>
              <a:t>SpaceX shares fell below their $135 IPO price (set June 12) after sliding from a post-listing high above $200. A tiny ~4% float and intense attention have amplified the swings, and its post-IPO bonds are also weak. A closely watched Starship launch is planned for Thursday.</a:t>
            </a:r>
            <a:endParaRPr lang="en-US" sz="1300" dirty="0"/>
          </a:p>
        </p:txBody>
      </p:sp>
      <p:sp>
        <p:nvSpPr>
          <p:cNvPr id="10" name="Text 8"/>
          <p:cNvSpPr/>
          <p:nvPr/>
        </p:nvSpPr>
        <p:spPr>
          <a:xfrm>
            <a:off x="548640" y="3200400"/>
            <a:ext cx="585216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KEY TAKEAWAYS</a:t>
            </a:r>
            <a:endParaRPr lang="en-US" sz="1200" dirty="0"/>
          </a:p>
        </p:txBody>
      </p:sp>
      <p:sp>
        <p:nvSpPr>
          <p:cNvPr id="11" name="Text 9"/>
          <p:cNvSpPr/>
          <p:nvPr/>
        </p:nvSpPr>
        <p:spPr>
          <a:xfrm>
            <a:off x="548640" y="3493008"/>
            <a:ext cx="5852160" cy="1371600"/>
          </a:xfrm>
          <a:prstGeom prst="rect">
            <a:avLst/>
          </a:prstGeom>
          <a:noFill/>
          <a:ln/>
        </p:spPr>
        <p:txBody>
          <a:bodyPr wrap="square" lIns="0" tIns="0" rIns="0" bIns="0" rtlCol="0" anchor="ctr"/>
          <a:lstStyle/>
          <a:p>
            <a:pPr algn="l" marL="177800" indent="-177800">
              <a:lnSpc>
                <a:spcPct val="102000"/>
              </a:lnSpc>
              <a:spcAft>
                <a:spcPts val="600"/>
              </a:spcAft>
              <a:buSzPct val="100000"/>
              <a:buChar char="•"/>
            </a:pPr>
            <a:r>
              <a:rPr lang="en-US" sz="1250" dirty="0">
                <a:solidFill>
                  <a:srgbClr val="14181F"/>
                </a:solidFill>
                <a:latin typeface="Calibri" pitchFamily="34" charset="0"/>
                <a:ea typeface="Calibri" pitchFamily="34" charset="-122"/>
                <a:cs typeface="Calibri" pitchFamily="34" charset="-120"/>
              </a:rPr>
              <a:t>Stock dropped below its $135 IPO price, down from a post-IPO high above $200.</a:t>
            </a:r>
            <a:pPr algn="l" marL="177800" indent="-177800">
              <a:lnSpc>
                <a:spcPct val="102000"/>
              </a:lnSpc>
              <a:spcAft>
                <a:spcPts val="600"/>
              </a:spcAft>
              <a:buSzPct val="100000"/>
              <a:buChar char="•"/>
            </a:pPr>
            <a:r>
              <a:rPr lang="en-US" sz="1250" dirty="0">
                <a:solidFill>
                  <a:srgbClr val="14181F"/>
                </a:solidFill>
                <a:latin typeface="Calibri" pitchFamily="34" charset="0"/>
                <a:ea typeface="Calibri" pitchFamily="34" charset="-122"/>
                <a:cs typeface="Calibri" pitchFamily="34" charset="-120"/>
              </a:rPr>
              <a:t>A ~4% float plus heavy scrutiny drive volatile swings; bonds are also soft.</a:t>
            </a:r>
            <a:pPr algn="l" marL="177800" indent="-177800">
              <a:lnSpc>
                <a:spcPct val="102000"/>
              </a:lnSpc>
              <a:spcAft>
                <a:spcPts val="600"/>
              </a:spcAft>
              <a:buSzPct val="100000"/>
              <a:buChar char="•"/>
            </a:pPr>
            <a:r>
              <a:rPr lang="en-US" sz="1250" dirty="0">
                <a:solidFill>
                  <a:srgbClr val="14181F"/>
                </a:solidFill>
                <a:latin typeface="Calibri" pitchFamily="34" charset="0"/>
                <a:ea typeface="Calibri" pitchFamily="34" charset="-122"/>
                <a:cs typeface="Calibri" pitchFamily="34" charset="-120"/>
              </a:rPr>
              <a:t>Thursday's Starship test is the next major catalyst to watch.</a:t>
            </a:r>
            <a:endParaRPr lang="en-US" sz="1250" dirty="0"/>
          </a:p>
        </p:txBody>
      </p:sp>
      <p:sp>
        <p:nvSpPr>
          <p:cNvPr id="12" name="Text 10"/>
          <p:cNvSpPr/>
          <p:nvPr/>
        </p:nvSpPr>
        <p:spPr>
          <a:xfrm>
            <a:off x="548640" y="4828032"/>
            <a:ext cx="5852160" cy="228600"/>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techcrunch.com/2026/07/15/spacex-slips-below-its-135-ipo-price-ahead-of-starship-launch</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4"/>
        </a:solidFill>
      </p:bgPr>
    </p:bg>
    <p:spTree>
      <p:nvGrpSpPr>
        <p:cNvPr id="1" name=""/>
        <p:cNvGrpSpPr/>
        <p:nvPr/>
      </p:nvGrpSpPr>
      <p:grpSpPr>
        <a:xfrm>
          <a:off x="0" y="0"/>
          <a:ext cx="0" cy="0"/>
          <a:chOff x="0" y="0"/>
          <a:chExt cx="0" cy="0"/>
        </a:xfrm>
      </p:grpSpPr>
      <p:sp>
        <p:nvSpPr>
          <p:cNvPr id="2" name="Shape 0"/>
          <p:cNvSpPr/>
          <p:nvPr/>
        </p:nvSpPr>
        <p:spPr>
          <a:xfrm>
            <a:off x="0" y="0"/>
            <a:ext cx="2377440" cy="5148072"/>
          </a:xfrm>
          <a:prstGeom prst="rect">
            <a:avLst/>
          </a:prstGeom>
          <a:solidFill>
            <a:srgbClr val="6D28D9"/>
          </a:solidFill>
          <a:ln/>
        </p:spPr>
      </p:sp>
      <p:sp>
        <p:nvSpPr>
          <p:cNvPr id="3" name="Text 1"/>
          <p:cNvSpPr/>
          <p:nvPr/>
        </p:nvSpPr>
        <p:spPr>
          <a:xfrm>
            <a:off x="0" y="457200"/>
            <a:ext cx="2377440" cy="1463040"/>
          </a:xfrm>
          <a:prstGeom prst="rect">
            <a:avLst/>
          </a:prstGeom>
          <a:noFill/>
          <a:ln/>
        </p:spPr>
        <p:txBody>
          <a:bodyPr wrap="square" rtlCol="0" anchor="ctr"/>
          <a:lstStyle/>
          <a:p>
            <a:pPr algn="ctr" indent="0" marL="0">
              <a:buNone/>
            </a:pPr>
            <a:r>
              <a:rPr lang="en-US" sz="9600" b="1" dirty="0">
                <a:solidFill>
                  <a:srgbClr val="FFFFFF"/>
                </a:solidFill>
                <a:latin typeface="Georgia" pitchFamily="34" charset="0"/>
                <a:ea typeface="Georgia" pitchFamily="34" charset="-122"/>
                <a:cs typeface="Georgia" pitchFamily="34" charset="-120"/>
              </a:rPr>
              <a:t>03</a:t>
            </a:r>
            <a:endParaRPr lang="en-US" sz="9600" dirty="0"/>
          </a:p>
        </p:txBody>
      </p:sp>
      <p:sp>
        <p:nvSpPr>
          <p:cNvPr id="4" name="Text 2"/>
          <p:cNvSpPr/>
          <p:nvPr/>
        </p:nvSpPr>
        <p:spPr>
          <a:xfrm>
            <a:off x="0" y="1874520"/>
            <a:ext cx="2377440" cy="274320"/>
          </a:xfrm>
          <a:prstGeom prst="rect">
            <a:avLst/>
          </a:prstGeom>
          <a:noFill/>
          <a:ln/>
        </p:spPr>
        <p:txBody>
          <a:bodyPr wrap="square"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AI</a:t>
            </a:r>
            <a:endParaRPr lang="en-US" sz="1200" dirty="0"/>
          </a:p>
        </p:txBody>
      </p:sp>
      <p:sp>
        <p:nvSpPr>
          <p:cNvPr id="5" name="Shape 3"/>
          <p:cNvSpPr/>
          <p:nvPr/>
        </p:nvSpPr>
        <p:spPr>
          <a:xfrm>
            <a:off x="868680" y="2240280"/>
            <a:ext cx="640080" cy="45720"/>
          </a:xfrm>
          <a:prstGeom prst="rect">
            <a:avLst/>
          </a:prstGeom>
          <a:solidFill>
            <a:srgbClr val="00C853"/>
          </a:solidFill>
          <a:ln/>
        </p:spPr>
      </p:sp>
      <p:sp>
        <p:nvSpPr>
          <p:cNvPr id="6" name="Text 4"/>
          <p:cNvSpPr/>
          <p:nvPr/>
        </p:nvSpPr>
        <p:spPr>
          <a:xfrm>
            <a:off x="0" y="4297680"/>
            <a:ext cx="2377440" cy="640080"/>
          </a:xfrm>
          <a:prstGeom prst="rect">
            <a:avLst/>
          </a:prstGeom>
          <a:noFill/>
          <a:ln/>
        </p:spPr>
        <p:txBody>
          <a:bodyPr wrap="square" rtlCol="0" anchor="ctr"/>
          <a:lstStyle/>
          <a:p>
            <a:pPr algn="ctr" indent="0" marL="0">
              <a:buNone/>
            </a:pPr>
            <a:r>
              <a:rPr lang="en-US" sz="1000" dirty="0">
                <a:solidFill>
                  <a:srgbClr val="EAF0EA"/>
                </a:solidFill>
                <a:latin typeface="Calibri" pitchFamily="34" charset="0"/>
                <a:ea typeface="Calibri" pitchFamily="34" charset="-122"/>
                <a:cs typeface="Calibri" pitchFamily="34" charset="-120"/>
              </a:rPr>
              <a:t>TechCrunch</a:t>
            </a:r>
            <a:endParaRPr lang="en-US" sz="1000" dirty="0"/>
          </a:p>
          <a:p>
            <a:pPr algn="ctr" indent="0" marL="0">
              <a:buNone/>
            </a:pPr>
            <a:r>
              <a:rPr lang="en-US" sz="1000" dirty="0">
                <a:solidFill>
                  <a:srgbClr val="EAF0EA"/>
                </a:solidFill>
                <a:latin typeface="Calibri" pitchFamily="34" charset="0"/>
                <a:ea typeface="Calibri" pitchFamily="34" charset="-122"/>
                <a:cs typeface="Calibri" pitchFamily="34" charset="-120"/>
              </a:rPr>
              <a:t>Top 5 Trending</a:t>
            </a:r>
            <a:endParaRPr lang="en-US" sz="1000" dirty="0"/>
          </a:p>
        </p:txBody>
      </p:sp>
      <p:sp>
        <p:nvSpPr>
          <p:cNvPr id="7" name="Text 5"/>
          <p:cNvSpPr/>
          <p:nvPr/>
        </p:nvSpPr>
        <p:spPr>
          <a:xfrm>
            <a:off x="2743200" y="411480"/>
            <a:ext cx="5852160" cy="914400"/>
          </a:xfrm>
          <a:prstGeom prst="rect">
            <a:avLst/>
          </a:prstGeom>
          <a:noFill/>
          <a:ln/>
        </p:spPr>
        <p:txBody>
          <a:bodyPr wrap="square" lIns="0" tIns="0" rIns="0" bIns="0" rtlCol="0" anchor="ctr"/>
          <a:lstStyle/>
          <a:p>
            <a:pPr indent="0" marL="0">
              <a:buNone/>
            </a:pPr>
            <a:r>
              <a:rPr lang="en-US" sz="2300" b="1" dirty="0">
                <a:solidFill>
                  <a:srgbClr val="14181F"/>
                </a:solidFill>
                <a:latin typeface="Georgia" pitchFamily="34" charset="0"/>
                <a:ea typeface="Georgia" pitchFamily="34" charset="-122"/>
                <a:cs typeface="Georgia" pitchFamily="34" charset="-120"/>
              </a:rPr>
              <a:t>Thinking Machines bets on custom AI with first open model, Inkling</a:t>
            </a:r>
            <a:endParaRPr lang="en-US" sz="2300" dirty="0"/>
          </a:p>
        </p:txBody>
      </p:sp>
      <p:sp>
        <p:nvSpPr>
          <p:cNvPr id="8" name="Text 6"/>
          <p:cNvSpPr/>
          <p:nvPr/>
        </p:nvSpPr>
        <p:spPr>
          <a:xfrm>
            <a:off x="2743200" y="1371600"/>
            <a:ext cx="585216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Connie Loizos · TechCrunch · Jul 15, 2026</a:t>
            </a:r>
            <a:endParaRPr lang="en-US" sz="1050" dirty="0"/>
          </a:p>
        </p:txBody>
      </p:sp>
      <p:sp>
        <p:nvSpPr>
          <p:cNvPr id="9" name="Text 7"/>
          <p:cNvSpPr/>
          <p:nvPr/>
        </p:nvSpPr>
        <p:spPr>
          <a:xfrm>
            <a:off x="2743200" y="1719072"/>
            <a:ext cx="5852160" cy="1371600"/>
          </a:xfrm>
          <a:prstGeom prst="rect">
            <a:avLst/>
          </a:prstGeom>
          <a:noFill/>
          <a:ln/>
        </p:spPr>
        <p:txBody>
          <a:bodyPr wrap="square" lIns="0" tIns="0" rIns="0" bIns="0" rtlCol="0" anchor="ctr"/>
          <a:lstStyle/>
          <a:p>
            <a:pPr algn="l" indent="0" marL="0">
              <a:lnSpc>
                <a:spcPct val="105000"/>
              </a:lnSpc>
              <a:buNone/>
            </a:pPr>
            <a:r>
              <a:rPr lang="en-US" sz="1300" dirty="0">
                <a:solidFill>
                  <a:srgbClr val="14181F"/>
                </a:solidFill>
                <a:latin typeface="Calibri" pitchFamily="34" charset="0"/>
                <a:ea typeface="Calibri" pitchFamily="34" charset="-122"/>
                <a:cs typeface="Calibri" pitchFamily="34" charset="-120"/>
              </a:rPr>
              <a:t>Mira Murati's Thinking Machines Lab released its first open-weight model, Inkling — a 975B-parameter mixture-of-experts (41B active) trained on 45T multimodal tokens. The company is betting that customizable, open models beat one-size-fits-all, monetizing via its Tinker fine-tuning platform rather than metered API access.</a:t>
            </a:r>
            <a:endParaRPr lang="en-US" sz="1300" dirty="0"/>
          </a:p>
        </p:txBody>
      </p:sp>
      <p:sp>
        <p:nvSpPr>
          <p:cNvPr id="10" name="Text 8"/>
          <p:cNvSpPr/>
          <p:nvPr/>
        </p:nvSpPr>
        <p:spPr>
          <a:xfrm>
            <a:off x="2743200" y="3200400"/>
            <a:ext cx="5852160" cy="274320"/>
          </a:xfrm>
          <a:prstGeom prst="rect">
            <a:avLst/>
          </a:prstGeom>
          <a:noFill/>
          <a:ln/>
        </p:spPr>
        <p:txBody>
          <a:bodyPr wrap="square" lIns="0" tIns="0" rIns="0" bIns="0" rtlCol="0" anchor="ctr"/>
          <a:lstStyle/>
          <a:p>
            <a:pPr indent="0" marL="0">
              <a:buNone/>
            </a:pPr>
            <a:r>
              <a:rPr lang="en-US" sz="1200" b="1" spc="200" kern="0" dirty="0">
                <a:solidFill>
                  <a:srgbClr val="6D28D9"/>
                </a:solidFill>
                <a:latin typeface="Calibri" pitchFamily="34" charset="0"/>
                <a:ea typeface="Calibri" pitchFamily="34" charset="-122"/>
                <a:cs typeface="Calibri" pitchFamily="34" charset="-120"/>
              </a:rPr>
              <a:t>KEY TAKEAWAYS</a:t>
            </a:r>
            <a:endParaRPr lang="en-US" sz="1200" dirty="0"/>
          </a:p>
        </p:txBody>
      </p:sp>
      <p:sp>
        <p:nvSpPr>
          <p:cNvPr id="11" name="Text 9"/>
          <p:cNvSpPr/>
          <p:nvPr/>
        </p:nvSpPr>
        <p:spPr>
          <a:xfrm>
            <a:off x="2743200" y="3493008"/>
            <a:ext cx="5852160" cy="1371600"/>
          </a:xfrm>
          <a:prstGeom prst="rect">
            <a:avLst/>
          </a:prstGeom>
          <a:noFill/>
          <a:ln/>
        </p:spPr>
        <p:txBody>
          <a:bodyPr wrap="square" lIns="0" tIns="0" rIns="0" bIns="0" rtlCol="0" anchor="ctr"/>
          <a:lstStyle/>
          <a:p>
            <a:pPr algn="l" marL="177800" indent="-177800">
              <a:lnSpc>
                <a:spcPct val="102000"/>
              </a:lnSpc>
              <a:spcAft>
                <a:spcPts val="600"/>
              </a:spcAft>
              <a:buSzPct val="100000"/>
              <a:buChar char="•"/>
            </a:pPr>
            <a:r>
              <a:rPr lang="en-US" sz="1250" dirty="0">
                <a:solidFill>
                  <a:srgbClr val="14181F"/>
                </a:solidFill>
                <a:latin typeface="Calibri" pitchFamily="34" charset="0"/>
                <a:ea typeface="Calibri" pitchFamily="34" charset="-122"/>
                <a:cs typeface="Calibri" pitchFamily="34" charset="-120"/>
              </a:rPr>
              <a:t>Open weights, downloadable and modifiable — unlike OpenAI and Anthropic.</a:t>
            </a:r>
            <a:pPr algn="l" marL="177800" indent="-177800">
              <a:lnSpc>
                <a:spcPct val="102000"/>
              </a:lnSpc>
              <a:spcAft>
                <a:spcPts val="600"/>
              </a:spcAft>
              <a:buSzPct val="100000"/>
              <a:buChar char="•"/>
            </a:pPr>
            <a:r>
              <a:rPr lang="en-US" sz="1250" dirty="0">
                <a:solidFill>
                  <a:srgbClr val="14181F"/>
                </a:solidFill>
                <a:latin typeface="Calibri" pitchFamily="34" charset="0"/>
                <a:ea typeface="Calibri" pitchFamily="34" charset="-122"/>
                <a:cs typeface="Calibri" pitchFamily="34" charset="-120"/>
              </a:rPr>
              <a:t>Efficient MoE: 41B active of 975B; ~1/3 fewer tokens than Nemotron 3 Ultra on coding.</a:t>
            </a:r>
            <a:pPr algn="l" marL="177800" indent="-177800">
              <a:lnSpc>
                <a:spcPct val="102000"/>
              </a:lnSpc>
              <a:spcAft>
                <a:spcPts val="600"/>
              </a:spcAft>
              <a:buSzPct val="100000"/>
              <a:buChar char="•"/>
            </a:pPr>
            <a:r>
              <a:rPr lang="en-US" sz="1250" dirty="0">
                <a:solidFill>
                  <a:srgbClr val="14181F"/>
                </a:solidFill>
                <a:latin typeface="Calibri" pitchFamily="34" charset="0"/>
                <a:ea typeface="Calibri" pitchFamily="34" charset="-122"/>
                <a:cs typeface="Calibri" pitchFamily="34" charset="-120"/>
              </a:rPr>
              <a:t>Monetizes customization via Tinker, not per-token API access.</a:t>
            </a:r>
            <a:endParaRPr lang="en-US" sz="1250" dirty="0"/>
          </a:p>
        </p:txBody>
      </p:sp>
      <p:sp>
        <p:nvSpPr>
          <p:cNvPr id="12" name="Text 10"/>
          <p:cNvSpPr/>
          <p:nvPr/>
        </p:nvSpPr>
        <p:spPr>
          <a:xfrm>
            <a:off x="2743200" y="4828032"/>
            <a:ext cx="5852160" cy="228600"/>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techcrunch.com/2026/07/15/thinking-machines-amps-up-its-bet-against-one-size-fits-all-ai...</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4"/>
        </a:solidFill>
      </p:bgPr>
    </p:bg>
    <p:spTree>
      <p:nvGrpSpPr>
        <p:cNvPr id="1" name=""/>
        <p:cNvGrpSpPr/>
        <p:nvPr/>
      </p:nvGrpSpPr>
      <p:grpSpPr>
        <a:xfrm>
          <a:off x="0" y="0"/>
          <a:ext cx="0" cy="0"/>
          <a:chOff x="0" y="0"/>
          <a:chExt cx="0" cy="0"/>
        </a:xfrm>
      </p:grpSpPr>
      <p:sp>
        <p:nvSpPr>
          <p:cNvPr id="2" name="Shape 0"/>
          <p:cNvSpPr/>
          <p:nvPr/>
        </p:nvSpPr>
        <p:spPr>
          <a:xfrm>
            <a:off x="6766560" y="0"/>
            <a:ext cx="2377440" cy="5148072"/>
          </a:xfrm>
          <a:prstGeom prst="rect">
            <a:avLst/>
          </a:prstGeom>
          <a:solidFill>
            <a:srgbClr val="B85042"/>
          </a:solidFill>
          <a:ln/>
        </p:spPr>
      </p:sp>
      <p:sp>
        <p:nvSpPr>
          <p:cNvPr id="3" name="Text 1"/>
          <p:cNvSpPr/>
          <p:nvPr/>
        </p:nvSpPr>
        <p:spPr>
          <a:xfrm>
            <a:off x="6766560" y="457200"/>
            <a:ext cx="2377440" cy="1463040"/>
          </a:xfrm>
          <a:prstGeom prst="rect">
            <a:avLst/>
          </a:prstGeom>
          <a:noFill/>
          <a:ln/>
        </p:spPr>
        <p:txBody>
          <a:bodyPr wrap="square" rtlCol="0" anchor="ctr"/>
          <a:lstStyle/>
          <a:p>
            <a:pPr algn="ctr" indent="0" marL="0">
              <a:buNone/>
            </a:pPr>
            <a:r>
              <a:rPr lang="en-US" sz="9600" b="1" dirty="0">
                <a:solidFill>
                  <a:srgbClr val="FFFFFF"/>
                </a:solidFill>
                <a:latin typeface="Georgia" pitchFamily="34" charset="0"/>
                <a:ea typeface="Georgia" pitchFamily="34" charset="-122"/>
                <a:cs typeface="Georgia" pitchFamily="34" charset="-120"/>
              </a:rPr>
              <a:t>04</a:t>
            </a:r>
            <a:endParaRPr lang="en-US" sz="9600" dirty="0"/>
          </a:p>
        </p:txBody>
      </p:sp>
      <p:sp>
        <p:nvSpPr>
          <p:cNvPr id="4" name="Text 2"/>
          <p:cNvSpPr/>
          <p:nvPr/>
        </p:nvSpPr>
        <p:spPr>
          <a:xfrm>
            <a:off x="6766560" y="1874520"/>
            <a:ext cx="2377440" cy="274320"/>
          </a:xfrm>
          <a:prstGeom prst="rect">
            <a:avLst/>
          </a:prstGeom>
          <a:noFill/>
          <a:ln/>
        </p:spPr>
        <p:txBody>
          <a:bodyPr wrap="square"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HARDWARE</a:t>
            </a:r>
            <a:endParaRPr lang="en-US" sz="1200" dirty="0"/>
          </a:p>
        </p:txBody>
      </p:sp>
      <p:sp>
        <p:nvSpPr>
          <p:cNvPr id="5" name="Shape 3"/>
          <p:cNvSpPr/>
          <p:nvPr/>
        </p:nvSpPr>
        <p:spPr>
          <a:xfrm>
            <a:off x="7635240" y="2240280"/>
            <a:ext cx="640080" cy="45720"/>
          </a:xfrm>
          <a:prstGeom prst="rect">
            <a:avLst/>
          </a:prstGeom>
          <a:solidFill>
            <a:srgbClr val="00C853"/>
          </a:solidFill>
          <a:ln/>
        </p:spPr>
      </p:sp>
      <p:sp>
        <p:nvSpPr>
          <p:cNvPr id="6" name="Text 4"/>
          <p:cNvSpPr/>
          <p:nvPr/>
        </p:nvSpPr>
        <p:spPr>
          <a:xfrm>
            <a:off x="6766560" y="4297680"/>
            <a:ext cx="2377440" cy="640080"/>
          </a:xfrm>
          <a:prstGeom prst="rect">
            <a:avLst/>
          </a:prstGeom>
          <a:noFill/>
          <a:ln/>
        </p:spPr>
        <p:txBody>
          <a:bodyPr wrap="square" rtlCol="0" anchor="ctr"/>
          <a:lstStyle/>
          <a:p>
            <a:pPr algn="ctr" indent="0" marL="0">
              <a:buNone/>
            </a:pPr>
            <a:r>
              <a:rPr lang="en-US" sz="1000" dirty="0">
                <a:solidFill>
                  <a:srgbClr val="EAF0EA"/>
                </a:solidFill>
                <a:latin typeface="Calibri" pitchFamily="34" charset="0"/>
                <a:ea typeface="Calibri" pitchFamily="34" charset="-122"/>
                <a:cs typeface="Calibri" pitchFamily="34" charset="-120"/>
              </a:rPr>
              <a:t>TechCrunch</a:t>
            </a:r>
            <a:endParaRPr lang="en-US" sz="1000" dirty="0"/>
          </a:p>
          <a:p>
            <a:pPr algn="ctr" indent="0" marL="0">
              <a:buNone/>
            </a:pPr>
            <a:r>
              <a:rPr lang="en-US" sz="1000" dirty="0">
                <a:solidFill>
                  <a:srgbClr val="EAF0EA"/>
                </a:solidFill>
                <a:latin typeface="Calibri" pitchFamily="34" charset="0"/>
                <a:ea typeface="Calibri" pitchFamily="34" charset="-122"/>
                <a:cs typeface="Calibri" pitchFamily="34" charset="-120"/>
              </a:rPr>
              <a:t>Top 5 Trending</a:t>
            </a:r>
            <a:endParaRPr lang="en-US" sz="1000" dirty="0"/>
          </a:p>
        </p:txBody>
      </p:sp>
      <p:sp>
        <p:nvSpPr>
          <p:cNvPr id="7" name="Text 5"/>
          <p:cNvSpPr/>
          <p:nvPr/>
        </p:nvSpPr>
        <p:spPr>
          <a:xfrm>
            <a:off x="548640" y="411480"/>
            <a:ext cx="5852160" cy="914400"/>
          </a:xfrm>
          <a:prstGeom prst="rect">
            <a:avLst/>
          </a:prstGeom>
          <a:noFill/>
          <a:ln/>
        </p:spPr>
        <p:txBody>
          <a:bodyPr wrap="square" lIns="0" tIns="0" rIns="0" bIns="0" rtlCol="0" anchor="ctr"/>
          <a:lstStyle/>
          <a:p>
            <a:pPr indent="0" marL="0">
              <a:buNone/>
            </a:pPr>
            <a:r>
              <a:rPr lang="en-US" sz="2300" b="1" dirty="0">
                <a:solidFill>
                  <a:srgbClr val="14181F"/>
                </a:solidFill>
                <a:latin typeface="Georgia" pitchFamily="34" charset="0"/>
                <a:ea typeface="Georgia" pitchFamily="34" charset="-122"/>
                <a:cs typeface="Georgia" pitchFamily="34" charset="-120"/>
              </a:rPr>
              <a:t>OnePlus reportedly plans to wind down US and Europe operations</a:t>
            </a:r>
            <a:endParaRPr lang="en-US" sz="2300" dirty="0"/>
          </a:p>
        </p:txBody>
      </p:sp>
      <p:sp>
        <p:nvSpPr>
          <p:cNvPr id="8" name="Text 6"/>
          <p:cNvSpPr/>
          <p:nvPr/>
        </p:nvSpPr>
        <p:spPr>
          <a:xfrm>
            <a:off x="548640" y="1371600"/>
            <a:ext cx="585216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Ivan Mehta · TechCrunch · Jul 15, 2026</a:t>
            </a:r>
            <a:endParaRPr lang="en-US" sz="1050" dirty="0"/>
          </a:p>
        </p:txBody>
      </p:sp>
      <p:sp>
        <p:nvSpPr>
          <p:cNvPr id="9" name="Text 7"/>
          <p:cNvSpPr/>
          <p:nvPr/>
        </p:nvSpPr>
        <p:spPr>
          <a:xfrm>
            <a:off x="548640" y="1719072"/>
            <a:ext cx="5852160" cy="1371600"/>
          </a:xfrm>
          <a:prstGeom prst="rect">
            <a:avLst/>
          </a:prstGeom>
          <a:noFill/>
          <a:ln/>
        </p:spPr>
        <p:txBody>
          <a:bodyPr wrap="square" lIns="0" tIns="0" rIns="0" bIns="0" rtlCol="0" anchor="ctr"/>
          <a:lstStyle/>
          <a:p>
            <a:pPr algn="l" indent="0" marL="0">
              <a:lnSpc>
                <a:spcPct val="105000"/>
              </a:lnSpc>
              <a:buNone/>
            </a:pPr>
            <a:r>
              <a:rPr lang="en-US" sz="1300" dirty="0">
                <a:solidFill>
                  <a:srgbClr val="14181F"/>
                </a:solidFill>
                <a:latin typeface="Calibri" pitchFamily="34" charset="0"/>
                <a:ea typeface="Calibri" pitchFamily="34" charset="-122"/>
                <a:cs typeface="Calibri" pitchFamily="34" charset="-120"/>
              </a:rPr>
              <a:t>OnePlus is winding down U.S. and Europe operations this week amid a restructuring at parent Oppo, and plans to exit India too, while keeping China and pushing Realme in some markets. The retreat reflects an industry facing a projected 13%+ 2026 shipment drop from a memory-chip shortage and soft demand.</a:t>
            </a:r>
            <a:endParaRPr lang="en-US" sz="1300" dirty="0"/>
          </a:p>
        </p:txBody>
      </p:sp>
      <p:sp>
        <p:nvSpPr>
          <p:cNvPr id="10" name="Text 8"/>
          <p:cNvSpPr/>
          <p:nvPr/>
        </p:nvSpPr>
        <p:spPr>
          <a:xfrm>
            <a:off x="548640" y="3200400"/>
            <a:ext cx="5852160" cy="274320"/>
          </a:xfrm>
          <a:prstGeom prst="rect">
            <a:avLst/>
          </a:prstGeom>
          <a:noFill/>
          <a:ln/>
        </p:spPr>
        <p:txBody>
          <a:bodyPr wrap="square" lIns="0" tIns="0" rIns="0" bIns="0" rtlCol="0" anchor="ctr"/>
          <a:lstStyle/>
          <a:p>
            <a:pPr indent="0" marL="0">
              <a:buNone/>
            </a:pPr>
            <a:r>
              <a:rPr lang="en-US" sz="1200" b="1" spc="200" kern="0" dirty="0">
                <a:solidFill>
                  <a:srgbClr val="B85042"/>
                </a:solidFill>
                <a:latin typeface="Calibri" pitchFamily="34" charset="0"/>
                <a:ea typeface="Calibri" pitchFamily="34" charset="-122"/>
                <a:cs typeface="Calibri" pitchFamily="34" charset="-120"/>
              </a:rPr>
              <a:t>KEY TAKEAWAYS</a:t>
            </a:r>
            <a:endParaRPr lang="en-US" sz="1200" dirty="0"/>
          </a:p>
        </p:txBody>
      </p:sp>
      <p:sp>
        <p:nvSpPr>
          <p:cNvPr id="11" name="Text 9"/>
          <p:cNvSpPr/>
          <p:nvPr/>
        </p:nvSpPr>
        <p:spPr>
          <a:xfrm>
            <a:off x="548640" y="3493008"/>
            <a:ext cx="5852160" cy="1371600"/>
          </a:xfrm>
          <a:prstGeom prst="rect">
            <a:avLst/>
          </a:prstGeom>
          <a:noFill/>
          <a:ln/>
        </p:spPr>
        <p:txBody>
          <a:bodyPr wrap="square" lIns="0" tIns="0" rIns="0" bIns="0" rtlCol="0" anchor="ctr"/>
          <a:lstStyle/>
          <a:p>
            <a:pPr algn="l" marL="177800" indent="-177800">
              <a:lnSpc>
                <a:spcPct val="102000"/>
              </a:lnSpc>
              <a:spcAft>
                <a:spcPts val="600"/>
              </a:spcAft>
              <a:buSzPct val="100000"/>
              <a:buChar char="•"/>
            </a:pPr>
            <a:r>
              <a:rPr lang="en-US" sz="1250" dirty="0">
                <a:solidFill>
                  <a:srgbClr val="14181F"/>
                </a:solidFill>
                <a:latin typeface="Calibri" pitchFamily="34" charset="0"/>
                <a:ea typeface="Calibri" pitchFamily="34" charset="-122"/>
                <a:cs typeface="Calibri" pitchFamily="34" charset="-120"/>
              </a:rPr>
              <a:t>Exiting Western markets; keeps China and shifts to Realme in select regions.</a:t>
            </a:r>
            <a:pPr algn="l" marL="177800" indent="-177800">
              <a:lnSpc>
                <a:spcPct val="102000"/>
              </a:lnSpc>
              <a:spcAft>
                <a:spcPts val="600"/>
              </a:spcAft>
              <a:buSzPct val="100000"/>
              <a:buChar char="•"/>
            </a:pPr>
            <a:r>
              <a:rPr lang="en-US" sz="1250" dirty="0">
                <a:solidFill>
                  <a:srgbClr val="14181F"/>
                </a:solidFill>
                <a:latin typeface="Calibri" pitchFamily="34" charset="0"/>
                <a:ea typeface="Calibri" pitchFamily="34" charset="-122"/>
                <a:cs typeface="Calibri" pitchFamily="34" charset="-120"/>
              </a:rPr>
              <a:t>Industry headwinds: 13%+ shipment decline in 2026 amid the "RAMageddon" chip shortage.</a:t>
            </a:r>
            <a:pPr algn="l" marL="177800" indent="-177800">
              <a:lnSpc>
                <a:spcPct val="102000"/>
              </a:lnSpc>
              <a:spcAft>
                <a:spcPts val="600"/>
              </a:spcAft>
              <a:buSzPct val="100000"/>
              <a:buChar char="•"/>
            </a:pPr>
            <a:r>
              <a:rPr lang="en-US" sz="1250" dirty="0">
                <a:solidFill>
                  <a:srgbClr val="14181F"/>
                </a:solidFill>
                <a:latin typeface="Calibri" pitchFamily="34" charset="0"/>
                <a:ea typeface="Calibri" pitchFamily="34" charset="-122"/>
                <a:cs typeface="Calibri" pitchFamily="34" charset="-120"/>
              </a:rPr>
              <a:t>Founded 2013 by Pete Lau and Carl Pei (Pei left in 2020 to start Nothing).</a:t>
            </a:r>
            <a:endParaRPr lang="en-US" sz="1250" dirty="0"/>
          </a:p>
        </p:txBody>
      </p:sp>
      <p:sp>
        <p:nvSpPr>
          <p:cNvPr id="12" name="Text 10"/>
          <p:cNvSpPr/>
          <p:nvPr/>
        </p:nvSpPr>
        <p:spPr>
          <a:xfrm>
            <a:off x="548640" y="4828032"/>
            <a:ext cx="5852160" cy="228600"/>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techcrunch.com/2026/07/15/phone-maker-oneplus-reportedly-plans-to-wind-down-us-and-europe-operations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4"/>
        </a:solidFill>
      </p:bgPr>
    </p:bg>
    <p:spTree>
      <p:nvGrpSpPr>
        <p:cNvPr id="1" name=""/>
        <p:cNvGrpSpPr/>
        <p:nvPr/>
      </p:nvGrpSpPr>
      <p:grpSpPr>
        <a:xfrm>
          <a:off x="0" y="0"/>
          <a:ext cx="0" cy="0"/>
          <a:chOff x="0" y="0"/>
          <a:chExt cx="0" cy="0"/>
        </a:xfrm>
      </p:grpSpPr>
      <p:sp>
        <p:nvSpPr>
          <p:cNvPr id="2" name="Shape 0"/>
          <p:cNvSpPr/>
          <p:nvPr/>
        </p:nvSpPr>
        <p:spPr>
          <a:xfrm>
            <a:off x="0" y="0"/>
            <a:ext cx="2377440" cy="5148072"/>
          </a:xfrm>
          <a:prstGeom prst="rect">
            <a:avLst/>
          </a:prstGeom>
          <a:solidFill>
            <a:srgbClr val="2C5F2D"/>
          </a:solidFill>
          <a:ln/>
        </p:spPr>
      </p:sp>
      <p:sp>
        <p:nvSpPr>
          <p:cNvPr id="3" name="Text 1"/>
          <p:cNvSpPr/>
          <p:nvPr/>
        </p:nvSpPr>
        <p:spPr>
          <a:xfrm>
            <a:off x="0" y="457200"/>
            <a:ext cx="2377440" cy="1463040"/>
          </a:xfrm>
          <a:prstGeom prst="rect">
            <a:avLst/>
          </a:prstGeom>
          <a:noFill/>
          <a:ln/>
        </p:spPr>
        <p:txBody>
          <a:bodyPr wrap="square" rtlCol="0" anchor="ctr"/>
          <a:lstStyle/>
          <a:p>
            <a:pPr algn="ctr" indent="0" marL="0">
              <a:buNone/>
            </a:pPr>
            <a:r>
              <a:rPr lang="en-US" sz="9600" b="1" dirty="0">
                <a:solidFill>
                  <a:srgbClr val="FFFFFF"/>
                </a:solidFill>
                <a:latin typeface="Georgia" pitchFamily="34" charset="0"/>
                <a:ea typeface="Georgia" pitchFamily="34" charset="-122"/>
                <a:cs typeface="Georgia" pitchFamily="34" charset="-120"/>
              </a:rPr>
              <a:t>05</a:t>
            </a:r>
            <a:endParaRPr lang="en-US" sz="9600" dirty="0"/>
          </a:p>
        </p:txBody>
      </p:sp>
      <p:sp>
        <p:nvSpPr>
          <p:cNvPr id="4" name="Text 2"/>
          <p:cNvSpPr/>
          <p:nvPr/>
        </p:nvSpPr>
        <p:spPr>
          <a:xfrm>
            <a:off x="0" y="1874520"/>
            <a:ext cx="2377440" cy="274320"/>
          </a:xfrm>
          <a:prstGeom prst="rect">
            <a:avLst/>
          </a:prstGeom>
          <a:noFill/>
          <a:ln/>
        </p:spPr>
        <p:txBody>
          <a:bodyPr wrap="square" rtlCol="0" anchor="ctr"/>
          <a:lstStyle/>
          <a:p>
            <a:pPr algn="ctr" indent="0" marL="0">
              <a:buNone/>
            </a:pPr>
            <a:r>
              <a:rPr lang="en-US" sz="1200" b="1" spc="300" kern="0" dirty="0">
                <a:solidFill>
                  <a:srgbClr val="FFFFFF"/>
                </a:solidFill>
                <a:latin typeface="Calibri" pitchFamily="34" charset="0"/>
                <a:ea typeface="Calibri" pitchFamily="34" charset="-122"/>
                <a:cs typeface="Calibri" pitchFamily="34" charset="-120"/>
              </a:rPr>
              <a:t>ENERGY</a:t>
            </a:r>
            <a:endParaRPr lang="en-US" sz="1200" dirty="0"/>
          </a:p>
        </p:txBody>
      </p:sp>
      <p:sp>
        <p:nvSpPr>
          <p:cNvPr id="5" name="Shape 3"/>
          <p:cNvSpPr/>
          <p:nvPr/>
        </p:nvSpPr>
        <p:spPr>
          <a:xfrm>
            <a:off x="868680" y="2240280"/>
            <a:ext cx="640080" cy="45720"/>
          </a:xfrm>
          <a:prstGeom prst="rect">
            <a:avLst/>
          </a:prstGeom>
          <a:solidFill>
            <a:srgbClr val="00C853"/>
          </a:solidFill>
          <a:ln/>
        </p:spPr>
      </p:sp>
      <p:sp>
        <p:nvSpPr>
          <p:cNvPr id="6" name="Text 4"/>
          <p:cNvSpPr/>
          <p:nvPr/>
        </p:nvSpPr>
        <p:spPr>
          <a:xfrm>
            <a:off x="0" y="4297680"/>
            <a:ext cx="2377440" cy="640080"/>
          </a:xfrm>
          <a:prstGeom prst="rect">
            <a:avLst/>
          </a:prstGeom>
          <a:noFill/>
          <a:ln/>
        </p:spPr>
        <p:txBody>
          <a:bodyPr wrap="square" rtlCol="0" anchor="ctr"/>
          <a:lstStyle/>
          <a:p>
            <a:pPr algn="ctr" indent="0" marL="0">
              <a:buNone/>
            </a:pPr>
            <a:r>
              <a:rPr lang="en-US" sz="1000" dirty="0">
                <a:solidFill>
                  <a:srgbClr val="EAF0EA"/>
                </a:solidFill>
                <a:latin typeface="Calibri" pitchFamily="34" charset="0"/>
                <a:ea typeface="Calibri" pitchFamily="34" charset="-122"/>
                <a:cs typeface="Calibri" pitchFamily="34" charset="-120"/>
              </a:rPr>
              <a:t>TechCrunch</a:t>
            </a:r>
            <a:endParaRPr lang="en-US" sz="1000" dirty="0"/>
          </a:p>
          <a:p>
            <a:pPr algn="ctr" indent="0" marL="0">
              <a:buNone/>
            </a:pPr>
            <a:r>
              <a:rPr lang="en-US" sz="1000" dirty="0">
                <a:solidFill>
                  <a:srgbClr val="EAF0EA"/>
                </a:solidFill>
                <a:latin typeface="Calibri" pitchFamily="34" charset="0"/>
                <a:ea typeface="Calibri" pitchFamily="34" charset="-122"/>
                <a:cs typeface="Calibri" pitchFamily="34" charset="-120"/>
              </a:rPr>
              <a:t>Top 5 Trending</a:t>
            </a:r>
            <a:endParaRPr lang="en-US" sz="1000" dirty="0"/>
          </a:p>
        </p:txBody>
      </p:sp>
      <p:sp>
        <p:nvSpPr>
          <p:cNvPr id="7" name="Text 5"/>
          <p:cNvSpPr/>
          <p:nvPr/>
        </p:nvSpPr>
        <p:spPr>
          <a:xfrm>
            <a:off x="2743200" y="411480"/>
            <a:ext cx="5852160" cy="914400"/>
          </a:xfrm>
          <a:prstGeom prst="rect">
            <a:avLst/>
          </a:prstGeom>
          <a:noFill/>
          <a:ln/>
        </p:spPr>
        <p:txBody>
          <a:bodyPr wrap="square" lIns="0" tIns="0" rIns="0" bIns="0" rtlCol="0" anchor="ctr"/>
          <a:lstStyle/>
          <a:p>
            <a:pPr indent="0" marL="0">
              <a:buNone/>
            </a:pPr>
            <a:r>
              <a:rPr lang="en-US" sz="2300" b="1" dirty="0">
                <a:solidFill>
                  <a:srgbClr val="14181F"/>
                </a:solidFill>
                <a:latin typeface="Georgia" pitchFamily="34" charset="0"/>
                <a:ea typeface="Georgia" pitchFamily="34" charset="-122"/>
                <a:cs typeface="Georgia" pitchFamily="34" charset="-120"/>
              </a:rPr>
              <a:t>Google's biggest clean-power project sits near xAI's gas plant</a:t>
            </a:r>
            <a:endParaRPr lang="en-US" sz="2300" dirty="0"/>
          </a:p>
        </p:txBody>
      </p:sp>
      <p:sp>
        <p:nvSpPr>
          <p:cNvPr id="8" name="Text 6"/>
          <p:cNvSpPr/>
          <p:nvPr/>
        </p:nvSpPr>
        <p:spPr>
          <a:xfrm>
            <a:off x="2743200" y="1371600"/>
            <a:ext cx="585216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Tim De Chant · TechCrunch · Jul 15, 2026</a:t>
            </a:r>
            <a:endParaRPr lang="en-US" sz="1050" dirty="0"/>
          </a:p>
        </p:txBody>
      </p:sp>
      <p:sp>
        <p:nvSpPr>
          <p:cNvPr id="9" name="Text 7"/>
          <p:cNvSpPr/>
          <p:nvPr/>
        </p:nvSpPr>
        <p:spPr>
          <a:xfrm>
            <a:off x="2743200" y="1719072"/>
            <a:ext cx="5852160" cy="1371600"/>
          </a:xfrm>
          <a:prstGeom prst="rect">
            <a:avLst/>
          </a:prstGeom>
          <a:noFill/>
          <a:ln/>
        </p:spPr>
        <p:txBody>
          <a:bodyPr wrap="square" lIns="0" tIns="0" rIns="0" bIns="0" rtlCol="0" anchor="ctr"/>
          <a:lstStyle/>
          <a:p>
            <a:pPr algn="l" indent="0" marL="0">
              <a:lnSpc>
                <a:spcPct val="105000"/>
              </a:lnSpc>
              <a:buNone/>
            </a:pPr>
            <a:r>
              <a:rPr lang="en-US" sz="1300" dirty="0">
                <a:solidFill>
                  <a:srgbClr val="14181F"/>
                </a:solidFill>
                <a:latin typeface="Calibri" pitchFamily="34" charset="0"/>
                <a:ea typeface="Calibri" pitchFamily="34" charset="-122"/>
                <a:cs typeface="Calibri" pitchFamily="34" charset="-120"/>
              </a:rPr>
              <a:t>Google unveiled its largest-ever solar-plus-storage investment, the Steel River Energy Center in Arkansas — about 1.8 GW of solar and 2.9 GWh of storage, finishing in 2029. TechCrunch frames it against xAI's nearby unpermitted gas plant, which Reuters reports is disproportionately polluting predominantly Black communities in Mississippi.</a:t>
            </a:r>
            <a:endParaRPr lang="en-US" sz="1300" dirty="0"/>
          </a:p>
        </p:txBody>
      </p:sp>
      <p:sp>
        <p:nvSpPr>
          <p:cNvPr id="10" name="Text 8"/>
          <p:cNvSpPr/>
          <p:nvPr/>
        </p:nvSpPr>
        <p:spPr>
          <a:xfrm>
            <a:off x="2743200" y="3200400"/>
            <a:ext cx="5852160"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KEY TAKEAWAYS</a:t>
            </a:r>
            <a:endParaRPr lang="en-US" sz="1200" dirty="0"/>
          </a:p>
        </p:txBody>
      </p:sp>
      <p:sp>
        <p:nvSpPr>
          <p:cNvPr id="11" name="Text 9"/>
          <p:cNvSpPr/>
          <p:nvPr/>
        </p:nvSpPr>
        <p:spPr>
          <a:xfrm>
            <a:off x="2743200" y="3493008"/>
            <a:ext cx="5852160" cy="1371600"/>
          </a:xfrm>
          <a:prstGeom prst="rect">
            <a:avLst/>
          </a:prstGeom>
          <a:noFill/>
          <a:ln/>
        </p:spPr>
        <p:txBody>
          <a:bodyPr wrap="square" lIns="0" tIns="0" rIns="0" bIns="0" rtlCol="0" anchor="ctr"/>
          <a:lstStyle/>
          <a:p>
            <a:pPr algn="l" marL="177800" indent="-177800">
              <a:lnSpc>
                <a:spcPct val="102000"/>
              </a:lnSpc>
              <a:spcAft>
                <a:spcPts val="600"/>
              </a:spcAft>
              <a:buSzPct val="100000"/>
              <a:buChar char="•"/>
            </a:pPr>
            <a:r>
              <a:rPr lang="en-US" sz="1250" dirty="0">
                <a:solidFill>
                  <a:srgbClr val="14181F"/>
                </a:solidFill>
                <a:latin typeface="Calibri" pitchFamily="34" charset="0"/>
                <a:ea typeface="Calibri" pitchFamily="34" charset="-122"/>
                <a:cs typeface="Calibri" pitchFamily="34" charset="-120"/>
              </a:rPr>
              <a:t>~1.8 GW solar + 2.9 GWh storage; slated to be the largest U.S. solar facility by 2029.</a:t>
            </a:r>
            <a:pPr algn="l" marL="177800" indent="-177800">
              <a:lnSpc>
                <a:spcPct val="102000"/>
              </a:lnSpc>
              <a:spcAft>
                <a:spcPts val="600"/>
              </a:spcAft>
              <a:buSzPct val="100000"/>
              <a:buChar char="•"/>
            </a:pPr>
            <a:r>
              <a:rPr lang="en-US" sz="1250" dirty="0">
                <a:solidFill>
                  <a:srgbClr val="14181F"/>
                </a:solidFill>
                <a:latin typeface="Calibri" pitchFamily="34" charset="0"/>
                <a:ea typeface="Calibri" pitchFamily="34" charset="-122"/>
                <a:cs typeface="Calibri" pitchFamily="34" charset="-120"/>
              </a:rPr>
              <a:t>Sharp contrast with xAI's ~60 unpermitted gas turbines nearby.</a:t>
            </a:r>
            <a:pPr algn="l" marL="177800" indent="-177800">
              <a:lnSpc>
                <a:spcPct val="102000"/>
              </a:lnSpc>
              <a:spcAft>
                <a:spcPts val="600"/>
              </a:spcAft>
              <a:buSzPct val="100000"/>
              <a:buChar char="•"/>
            </a:pPr>
            <a:r>
              <a:rPr lang="en-US" sz="1250" dirty="0">
                <a:solidFill>
                  <a:srgbClr val="14181F"/>
                </a:solidFill>
                <a:latin typeface="Calibri" pitchFamily="34" charset="0"/>
                <a:ea typeface="Calibri" pitchFamily="34" charset="-122"/>
                <a:cs typeface="Calibri" pitchFamily="34" charset="-120"/>
              </a:rPr>
              <a:t>Cypress Creek secured $3.5B financing; Google invests and buys all output.</a:t>
            </a:r>
            <a:endParaRPr lang="en-US" sz="1250" dirty="0"/>
          </a:p>
        </p:txBody>
      </p:sp>
      <p:sp>
        <p:nvSpPr>
          <p:cNvPr id="12" name="Text 10"/>
          <p:cNvSpPr/>
          <p:nvPr/>
        </p:nvSpPr>
        <p:spPr>
          <a:xfrm>
            <a:off x="2743200" y="4828032"/>
            <a:ext cx="5852160" cy="228600"/>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techcrunch.com/2026/07/15/googles-biggest-clean-power-project-is-40-miles-north-of-xais-unpermitted-gas-power-plant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164592" cy="5148072"/>
          </a:xfrm>
          <a:prstGeom prst="rect">
            <a:avLst/>
          </a:prstGeom>
          <a:solidFill>
            <a:srgbClr val="00C853"/>
          </a:solidFill>
          <a:ln/>
        </p:spPr>
      </p:sp>
      <p:sp>
        <p:nvSpPr>
          <p:cNvPr id="3" name="Text 1"/>
          <p:cNvSpPr/>
          <p:nvPr/>
        </p:nvSpPr>
        <p:spPr>
          <a:xfrm>
            <a:off x="548640" y="384048"/>
            <a:ext cx="7315200" cy="274320"/>
          </a:xfrm>
          <a:prstGeom prst="rect">
            <a:avLst/>
          </a:prstGeom>
          <a:noFill/>
          <a:ln/>
        </p:spPr>
        <p:txBody>
          <a:bodyPr wrap="square" rtlCol="0" anchor="ctr"/>
          <a:lstStyle/>
          <a:p>
            <a:pPr indent="0" marL="0">
              <a:buNone/>
            </a:pPr>
            <a:r>
              <a:rPr lang="en-US" sz="1200" b="1" spc="300" kern="0" dirty="0">
                <a:solidFill>
                  <a:srgbClr val="00C853"/>
                </a:solidFill>
                <a:latin typeface="Calibri" pitchFamily="34" charset="0"/>
                <a:ea typeface="Calibri" pitchFamily="34" charset="-122"/>
                <a:cs typeface="Calibri" pitchFamily="34" charset="-120"/>
              </a:rPr>
              <a:t>THE BIG PICTURE</a:t>
            </a:r>
            <a:endParaRPr lang="en-US" sz="1200" dirty="0"/>
          </a:p>
        </p:txBody>
      </p:sp>
      <p:sp>
        <p:nvSpPr>
          <p:cNvPr id="4" name="Text 2"/>
          <p:cNvSpPr/>
          <p:nvPr/>
        </p:nvSpPr>
        <p:spPr>
          <a:xfrm>
            <a:off x="548640" y="640080"/>
            <a:ext cx="8046720" cy="5486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Key Takeaways from All Five</a:t>
            </a:r>
            <a:endParaRPr lang="en-US" sz="3000" dirty="0"/>
          </a:p>
        </p:txBody>
      </p:sp>
      <p:sp>
        <p:nvSpPr>
          <p:cNvPr id="5" name="Shape 3"/>
          <p:cNvSpPr/>
          <p:nvPr/>
        </p:nvSpPr>
        <p:spPr>
          <a:xfrm>
            <a:off x="548640" y="1563624"/>
            <a:ext cx="109728" cy="274320"/>
          </a:xfrm>
          <a:prstGeom prst="rect">
            <a:avLst/>
          </a:prstGeom>
          <a:solidFill>
            <a:srgbClr val="00C853"/>
          </a:solidFill>
          <a:ln/>
        </p:spPr>
      </p:sp>
      <p:sp>
        <p:nvSpPr>
          <p:cNvPr id="6" name="Text 4"/>
          <p:cNvSpPr/>
          <p:nvPr/>
        </p:nvSpPr>
        <p:spPr>
          <a:xfrm>
            <a:off x="822960" y="1508760"/>
            <a:ext cx="7772400" cy="384048"/>
          </a:xfrm>
          <a:prstGeom prst="rect">
            <a:avLst/>
          </a:prstGeom>
          <a:noFill/>
          <a:ln/>
        </p:spPr>
        <p:txBody>
          <a:bodyPr wrap="square" lIns="0" tIns="0" rIns="0" bIns="0" rtlCol="0" anchor="ctr"/>
          <a:lstStyle/>
          <a:p>
            <a:pPr indent="0" marL="0">
              <a:buNone/>
            </a:pPr>
            <a:r>
              <a:rPr lang="en-US" sz="1400" b="1" dirty="0">
                <a:solidFill>
                  <a:srgbClr val="00C853"/>
                </a:solidFill>
                <a:latin typeface="Calibri" pitchFamily="34" charset="0"/>
                <a:ea typeface="Calibri" pitchFamily="34" charset="-122"/>
                <a:cs typeface="Calibri" pitchFamily="34" charset="-120"/>
              </a:rPr>
              <a:t>Apple  </a:t>
            </a:r>
            <a:pPr indent="0" marL="0">
              <a:buNone/>
            </a:pPr>
            <a:r>
              <a:rPr lang="en-US" sz="1400" dirty="0">
                <a:solidFill>
                  <a:srgbClr val="FFFFFF"/>
                </a:solidFill>
                <a:latin typeface="Calibri" pitchFamily="34" charset="0"/>
                <a:ea typeface="Calibri" pitchFamily="34" charset="-122"/>
                <a:cs typeface="Calibri" pitchFamily="34" charset="-120"/>
              </a:rPr>
              <a:t>Platform giants differentiate on privacy and curation, not just reach.</a:t>
            </a:r>
            <a:endParaRPr lang="en-US" sz="1400" dirty="0"/>
          </a:p>
        </p:txBody>
      </p:sp>
      <p:sp>
        <p:nvSpPr>
          <p:cNvPr id="7" name="Shape 5"/>
          <p:cNvSpPr/>
          <p:nvPr/>
        </p:nvSpPr>
        <p:spPr>
          <a:xfrm>
            <a:off x="548640" y="2020824"/>
            <a:ext cx="109728" cy="274320"/>
          </a:xfrm>
          <a:prstGeom prst="rect">
            <a:avLst/>
          </a:prstGeom>
          <a:solidFill>
            <a:srgbClr val="00C853"/>
          </a:solidFill>
          <a:ln/>
        </p:spPr>
      </p:sp>
      <p:sp>
        <p:nvSpPr>
          <p:cNvPr id="8" name="Text 6"/>
          <p:cNvSpPr/>
          <p:nvPr/>
        </p:nvSpPr>
        <p:spPr>
          <a:xfrm>
            <a:off x="822960" y="1965960"/>
            <a:ext cx="7772400" cy="384048"/>
          </a:xfrm>
          <a:prstGeom prst="rect">
            <a:avLst/>
          </a:prstGeom>
          <a:noFill/>
          <a:ln/>
        </p:spPr>
        <p:txBody>
          <a:bodyPr wrap="square" lIns="0" tIns="0" rIns="0" bIns="0" rtlCol="0" anchor="ctr"/>
          <a:lstStyle/>
          <a:p>
            <a:pPr indent="0" marL="0">
              <a:buNone/>
            </a:pPr>
            <a:r>
              <a:rPr lang="en-US" sz="1400" b="1" dirty="0">
                <a:solidFill>
                  <a:srgbClr val="00C853"/>
                </a:solidFill>
                <a:latin typeface="Calibri" pitchFamily="34" charset="0"/>
                <a:ea typeface="Calibri" pitchFamily="34" charset="-122"/>
                <a:cs typeface="Calibri" pitchFamily="34" charset="-120"/>
              </a:rPr>
              <a:t>SpaceX  </a:t>
            </a:r>
            <a:pPr indent="0" marL="0">
              <a:buNone/>
            </a:pPr>
            <a:r>
              <a:rPr lang="en-US" sz="1400" dirty="0">
                <a:solidFill>
                  <a:srgbClr val="FFFFFF"/>
                </a:solidFill>
                <a:latin typeface="Calibri" pitchFamily="34" charset="0"/>
                <a:ea typeface="Calibri" pitchFamily="34" charset="-122"/>
                <a:cs typeface="Calibri" pitchFamily="34" charset="-120"/>
              </a:rPr>
              <a:t>Public markets are repricing hype — even marquee names face gravity.</a:t>
            </a:r>
            <a:endParaRPr lang="en-US" sz="1400" dirty="0"/>
          </a:p>
        </p:txBody>
      </p:sp>
      <p:sp>
        <p:nvSpPr>
          <p:cNvPr id="9" name="Shape 7"/>
          <p:cNvSpPr/>
          <p:nvPr/>
        </p:nvSpPr>
        <p:spPr>
          <a:xfrm>
            <a:off x="548640" y="2478024"/>
            <a:ext cx="109728" cy="274320"/>
          </a:xfrm>
          <a:prstGeom prst="rect">
            <a:avLst/>
          </a:prstGeom>
          <a:solidFill>
            <a:srgbClr val="00C853"/>
          </a:solidFill>
          <a:ln/>
        </p:spPr>
      </p:sp>
      <p:sp>
        <p:nvSpPr>
          <p:cNvPr id="10" name="Text 8"/>
          <p:cNvSpPr/>
          <p:nvPr/>
        </p:nvSpPr>
        <p:spPr>
          <a:xfrm>
            <a:off x="822960" y="2423160"/>
            <a:ext cx="7772400" cy="384048"/>
          </a:xfrm>
          <a:prstGeom prst="rect">
            <a:avLst/>
          </a:prstGeom>
          <a:noFill/>
          <a:ln/>
        </p:spPr>
        <p:txBody>
          <a:bodyPr wrap="square" lIns="0" tIns="0" rIns="0" bIns="0" rtlCol="0" anchor="ctr"/>
          <a:lstStyle/>
          <a:p>
            <a:pPr indent="0" marL="0">
              <a:buNone/>
            </a:pPr>
            <a:r>
              <a:rPr lang="en-US" sz="1400" b="1" dirty="0">
                <a:solidFill>
                  <a:srgbClr val="00C853"/>
                </a:solidFill>
                <a:latin typeface="Calibri" pitchFamily="34" charset="0"/>
                <a:ea typeface="Calibri" pitchFamily="34" charset="-122"/>
                <a:cs typeface="Calibri" pitchFamily="34" charset="-120"/>
              </a:rPr>
              <a:t>Thinking Machines  </a:t>
            </a:r>
            <a:pPr indent="0" marL="0">
              <a:buNone/>
            </a:pPr>
            <a:r>
              <a:rPr lang="en-US" sz="1400" dirty="0">
                <a:solidFill>
                  <a:srgbClr val="FFFFFF"/>
                </a:solidFill>
                <a:latin typeface="Calibri" pitchFamily="34" charset="0"/>
                <a:ea typeface="Calibri" pitchFamily="34" charset="-122"/>
                <a:cs typeface="Calibri" pitchFamily="34" charset="-120"/>
              </a:rPr>
              <a:t>Open-weight, customizable AI is emerging as a real counter-strategy.</a:t>
            </a:r>
            <a:endParaRPr lang="en-US" sz="1400" dirty="0"/>
          </a:p>
        </p:txBody>
      </p:sp>
      <p:sp>
        <p:nvSpPr>
          <p:cNvPr id="11" name="Shape 9"/>
          <p:cNvSpPr/>
          <p:nvPr/>
        </p:nvSpPr>
        <p:spPr>
          <a:xfrm>
            <a:off x="548640" y="2935224"/>
            <a:ext cx="109728" cy="274320"/>
          </a:xfrm>
          <a:prstGeom prst="rect">
            <a:avLst/>
          </a:prstGeom>
          <a:solidFill>
            <a:srgbClr val="00C853"/>
          </a:solidFill>
          <a:ln/>
        </p:spPr>
      </p:sp>
      <p:sp>
        <p:nvSpPr>
          <p:cNvPr id="12" name="Text 10"/>
          <p:cNvSpPr/>
          <p:nvPr/>
        </p:nvSpPr>
        <p:spPr>
          <a:xfrm>
            <a:off x="822960" y="2880360"/>
            <a:ext cx="7772400" cy="384048"/>
          </a:xfrm>
          <a:prstGeom prst="rect">
            <a:avLst/>
          </a:prstGeom>
          <a:noFill/>
          <a:ln/>
        </p:spPr>
        <p:txBody>
          <a:bodyPr wrap="square" lIns="0" tIns="0" rIns="0" bIns="0" rtlCol="0" anchor="ctr"/>
          <a:lstStyle/>
          <a:p>
            <a:pPr indent="0" marL="0">
              <a:buNone/>
            </a:pPr>
            <a:r>
              <a:rPr lang="en-US" sz="1400" b="1" dirty="0">
                <a:solidFill>
                  <a:srgbClr val="00C853"/>
                </a:solidFill>
                <a:latin typeface="Calibri" pitchFamily="34" charset="0"/>
                <a:ea typeface="Calibri" pitchFamily="34" charset="-122"/>
                <a:cs typeface="Calibri" pitchFamily="34" charset="-120"/>
              </a:rPr>
              <a:t>OnePlus  </a:t>
            </a:r>
            <a:pPr indent="0" marL="0">
              <a:buNone/>
            </a:pPr>
            <a:r>
              <a:rPr lang="en-US" sz="1400" dirty="0">
                <a:solidFill>
                  <a:srgbClr val="FFFFFF"/>
                </a:solidFill>
                <a:latin typeface="Calibri" pitchFamily="34" charset="0"/>
                <a:ea typeface="Calibri" pitchFamily="34" charset="-122"/>
                <a:cs typeface="Calibri" pitchFamily="34" charset="-120"/>
              </a:rPr>
              <a:t>A memory-chip crunch is redrawing who competes, and where, in phones.</a:t>
            </a:r>
            <a:endParaRPr lang="en-US" sz="1400" dirty="0"/>
          </a:p>
        </p:txBody>
      </p:sp>
      <p:sp>
        <p:nvSpPr>
          <p:cNvPr id="13" name="Shape 11"/>
          <p:cNvSpPr/>
          <p:nvPr/>
        </p:nvSpPr>
        <p:spPr>
          <a:xfrm>
            <a:off x="548640" y="3392424"/>
            <a:ext cx="109728" cy="274320"/>
          </a:xfrm>
          <a:prstGeom prst="rect">
            <a:avLst/>
          </a:prstGeom>
          <a:solidFill>
            <a:srgbClr val="00C853"/>
          </a:solidFill>
          <a:ln/>
        </p:spPr>
      </p:sp>
      <p:sp>
        <p:nvSpPr>
          <p:cNvPr id="14" name="Text 12"/>
          <p:cNvSpPr/>
          <p:nvPr/>
        </p:nvSpPr>
        <p:spPr>
          <a:xfrm>
            <a:off x="822960" y="3337560"/>
            <a:ext cx="7772400" cy="384048"/>
          </a:xfrm>
          <a:prstGeom prst="rect">
            <a:avLst/>
          </a:prstGeom>
          <a:noFill/>
          <a:ln/>
        </p:spPr>
        <p:txBody>
          <a:bodyPr wrap="square" lIns="0" tIns="0" rIns="0" bIns="0" rtlCol="0" anchor="ctr"/>
          <a:lstStyle/>
          <a:p>
            <a:pPr indent="0" marL="0">
              <a:buNone/>
            </a:pPr>
            <a:r>
              <a:rPr lang="en-US" sz="1400" b="1" dirty="0">
                <a:solidFill>
                  <a:srgbClr val="00C853"/>
                </a:solidFill>
                <a:latin typeface="Calibri" pitchFamily="34" charset="0"/>
                <a:ea typeface="Calibri" pitchFamily="34" charset="-122"/>
                <a:cs typeface="Calibri" pitchFamily="34" charset="-120"/>
              </a:rPr>
              <a:t>Google vs xAI  </a:t>
            </a:r>
            <a:pPr indent="0" marL="0">
              <a:buNone/>
            </a:pPr>
            <a:r>
              <a:rPr lang="en-US" sz="1400" dirty="0">
                <a:solidFill>
                  <a:srgbClr val="FFFFFF"/>
                </a:solidFill>
                <a:latin typeface="Calibri" pitchFamily="34" charset="0"/>
                <a:ea typeface="Calibri" pitchFamily="34" charset="-122"/>
                <a:cs typeface="Calibri" pitchFamily="34" charset="-120"/>
              </a:rPr>
              <a:t>The AI energy boom is splitting into clean buildout vs. permit-skipping speed.</a:t>
            </a:r>
            <a:endParaRPr lang="en-US" sz="1400" dirty="0"/>
          </a:p>
        </p:txBody>
      </p:sp>
      <p:sp>
        <p:nvSpPr>
          <p:cNvPr id="15" name="Shape 13"/>
          <p:cNvSpPr/>
          <p:nvPr/>
        </p:nvSpPr>
        <p:spPr>
          <a:xfrm>
            <a:off x="548640" y="3977640"/>
            <a:ext cx="8046720" cy="868680"/>
          </a:xfrm>
          <a:prstGeom prst="rect">
            <a:avLst/>
          </a:prstGeom>
          <a:solidFill>
            <a:srgbClr val="141A24"/>
          </a:solidFill>
          <a:ln w="12700">
            <a:solidFill>
              <a:srgbClr val="00C853"/>
            </a:solidFill>
            <a:prstDash val="solid"/>
          </a:ln>
        </p:spPr>
      </p:sp>
      <p:sp>
        <p:nvSpPr>
          <p:cNvPr id="16" name="Text 14"/>
          <p:cNvSpPr/>
          <p:nvPr/>
        </p:nvSpPr>
        <p:spPr>
          <a:xfrm>
            <a:off x="777240" y="4023360"/>
            <a:ext cx="7589520" cy="777240"/>
          </a:xfrm>
          <a:prstGeom prst="rect">
            <a:avLst/>
          </a:prstGeom>
          <a:noFill/>
          <a:ln/>
        </p:spPr>
        <p:txBody>
          <a:bodyPr wrap="square" lIns="0" tIns="0" rIns="0" bIns="0" rtlCol="0" anchor="ctr"/>
          <a:lstStyle/>
          <a:p>
            <a:pPr algn="l" indent="0" marL="0">
              <a:buNone/>
            </a:pPr>
            <a:r>
              <a:rPr lang="en-US" sz="1400" i="1" dirty="0">
                <a:solidFill>
                  <a:srgbClr val="FFFFFF"/>
                </a:solidFill>
                <a:latin typeface="Georgia" pitchFamily="34" charset="0"/>
                <a:ea typeface="Georgia" pitchFamily="34" charset="-122"/>
                <a:cs typeface="Georgia" pitchFamily="34" charset="-120"/>
              </a:rPr>
              <a:t>The through-line across today's headlines: as tech scales, the fault lines are trust, capital discipline, and energy — not just raw capability.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TechCrunch — Top 5 Trending</dc:title>
  <dc:subject>PptxGenJS Presentation</dc:subject>
  <dc:creator>techcrunch-deck skill</dc:creator>
  <cp:lastModifiedBy>techcrunch-deck skill</cp:lastModifiedBy>
  <cp:revision>1</cp:revision>
  <dcterms:created xsi:type="dcterms:W3CDTF">2026-07-15T18:39:52Z</dcterms:created>
  <dcterms:modified xsi:type="dcterms:W3CDTF">2026-07-15T18:39:52Z</dcterms:modified>
</cp:coreProperties>
</file>